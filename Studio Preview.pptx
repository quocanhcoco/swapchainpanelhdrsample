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86" r:id="rId3"/>
    <p:sldId id="261" r:id="rId4"/>
    <p:sldId id="284" r:id="rId5"/>
    <p:sldId id="278" r:id="rId6"/>
    <p:sldId id="265" r:id="rId7"/>
    <p:sldId id="279" r:id="rId8"/>
    <p:sldId id="285" r:id="rId9"/>
    <p:sldId id="277" r:id="rId10"/>
    <p:sldId id="287" r:id="rId11"/>
    <p:sldId id="266"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ần Mặc định" id="{B73E0EB9-592C-410C-A84A-530E268BD726}">
          <p14:sldIdLst>
            <p14:sldId id="256"/>
            <p14:sldId id="286"/>
            <p14:sldId id="261"/>
            <p14:sldId id="284"/>
            <p14:sldId id="278"/>
            <p14:sldId id="265"/>
            <p14:sldId id="279"/>
            <p14:sldId id="285"/>
            <p14:sldId id="277"/>
            <p14:sldId id="287"/>
            <p14:sldId id="266"/>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E52564-8068-FECC-F1D6-EDE4F6F24E0D}" v="2569" dt="2026-06-01T07:43:55.825"/>
    <p1510:client id="{2B21B589-901E-D4F4-B046-EF97416A390A}" v="33" dt="2026-06-03T01:23:13.150"/>
    <p1510:client id="{371ACE94-8898-26FF-B883-9B4C1616EA69}" v="415" dt="2026-06-03T02:56:54.944"/>
    <p1510:client id="{47721215-38F4-81E5-3395-E2ECCC65042D}" v="4" dt="2026-06-01T07:46:56.209"/>
    <p1510:client id="{AFE2519D-15B6-DB87-6844-A0E37233F749}" v="258" dt="2026-06-02T09:50:44.566"/>
    <p1510:client id="{C01743AE-D66E-0181-CE82-384D2E16F5D1}" v="757" dt="2026-06-02T09:37:05.518"/>
    <p1510:client id="{DB2E6963-CF0A-41B5-4C6F-343E3A1F922D}" v="242" dt="2026-06-03T04:04:38.0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E9B0D2-0CFF-4308-91AE-18C5E712F468}" type="datetimeFigureOut">
              <a:t>02/06/2026</a:t>
            </a:fld>
            <a:endParaRPr lang="vi-VN"/>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BA206C-4022-4CC0-8E55-736A0C024E77}" type="slidenum">
              <a:t>‹#›</a:t>
            </a:fld>
            <a:endParaRPr lang="vi-VN"/>
          </a:p>
        </p:txBody>
      </p:sp>
    </p:spTree>
    <p:extLst>
      <p:ext uri="{BB962C8B-B14F-4D97-AF65-F5344CB8AC3E}">
        <p14:creationId xmlns:p14="http://schemas.microsoft.com/office/powerpoint/2010/main" val="1129302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dirty="0">
              <a:latin typeface="Arial"/>
              <a:cs typeface="Arial"/>
            </a:endParaRPr>
          </a:p>
        </p:txBody>
      </p:sp>
      <p:sp>
        <p:nvSpPr>
          <p:cNvPr id="4" name="Chỗ dành sẵn cho Số hiệu Bản chiếu 3"/>
          <p:cNvSpPr>
            <a:spLocks noGrp="1"/>
          </p:cNvSpPr>
          <p:nvPr>
            <p:ph type="sldNum" sz="quarter" idx="5"/>
          </p:nvPr>
        </p:nvSpPr>
        <p:spPr/>
        <p:txBody>
          <a:bodyPr/>
          <a:lstStyle/>
          <a:p>
            <a:fld id="{1ABA206C-4022-4CC0-8E55-736A0C024E77}" type="slidenum">
              <a:t>1</a:t>
            </a:fld>
            <a:endParaRPr lang="vi-VN"/>
          </a:p>
        </p:txBody>
      </p:sp>
    </p:spTree>
    <p:extLst>
      <p:ext uri="{BB962C8B-B14F-4D97-AF65-F5344CB8AC3E}">
        <p14:creationId xmlns:p14="http://schemas.microsoft.com/office/powerpoint/2010/main" val="27699970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1ABA206C-4022-4CC0-8E55-736A0C024E77}" type="slidenum">
              <a:rPr lang="en-US"/>
              <a:t>2</a:t>
            </a:fld>
            <a:endParaRPr lang="en-US"/>
          </a:p>
        </p:txBody>
      </p:sp>
    </p:spTree>
    <p:extLst>
      <p:ext uri="{BB962C8B-B14F-4D97-AF65-F5344CB8AC3E}">
        <p14:creationId xmlns:p14="http://schemas.microsoft.com/office/powerpoint/2010/main" val="3283985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dirty="0">
              <a:latin typeface="Arial"/>
              <a:cs typeface="Arial"/>
            </a:endParaRPr>
          </a:p>
        </p:txBody>
      </p:sp>
      <p:sp>
        <p:nvSpPr>
          <p:cNvPr id="4" name="Chỗ dành sẵn cho Số hiệu Bản chiếu 3"/>
          <p:cNvSpPr>
            <a:spLocks noGrp="1"/>
          </p:cNvSpPr>
          <p:nvPr>
            <p:ph type="sldNum" sz="quarter" idx="5"/>
          </p:nvPr>
        </p:nvSpPr>
        <p:spPr/>
        <p:txBody>
          <a:bodyPr/>
          <a:lstStyle/>
          <a:p>
            <a:fld id="{1ABA206C-4022-4CC0-8E55-736A0C024E77}" type="slidenum">
              <a:rPr lang="vi-VN"/>
              <a:t>3</a:t>
            </a:fld>
            <a:endParaRPr lang="vi-VN"/>
          </a:p>
        </p:txBody>
      </p:sp>
    </p:spTree>
    <p:extLst>
      <p:ext uri="{BB962C8B-B14F-4D97-AF65-F5344CB8AC3E}">
        <p14:creationId xmlns:p14="http://schemas.microsoft.com/office/powerpoint/2010/main" val="3565353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a:solidFill>
                  <a:srgbClr val="000000"/>
                </a:solidFill>
                <a:latin typeface="Arial"/>
                <a:ea typeface="Calibri"/>
                <a:cs typeface="Arial"/>
              </a:rPr>
              <a:t>Cùng có cái nhìn tổng quan về quá trình 1 Image thông qua app của chúng ta viết và hiển thị được trên màn hình như thế nào</a:t>
            </a:r>
            <a:endParaRPr lang="vi-VN" dirty="0">
              <a:solidFill>
                <a:srgbClr val="000000"/>
              </a:solidFill>
              <a:latin typeface="Arial"/>
              <a:ea typeface="Calibri"/>
              <a:cs typeface="Arial"/>
            </a:endParaRPr>
          </a:p>
          <a:p>
            <a:pPr marL="171450" indent="-171450">
              <a:buFont typeface="Calibri"/>
              <a:buChar char="-"/>
            </a:pPr>
            <a:r>
              <a:rPr lang="vi-VN" b="1">
                <a:solidFill>
                  <a:srgbClr val="000000"/>
                </a:solidFill>
                <a:latin typeface="Arial"/>
                <a:ea typeface="Calibri"/>
                <a:cs typeface="Arial"/>
              </a:rPr>
              <a:t>VRAM</a:t>
            </a:r>
            <a:r>
              <a:rPr lang="vi-VN">
                <a:solidFill>
                  <a:srgbClr val="000000"/>
                </a:solidFill>
                <a:latin typeface="Arial"/>
                <a:ea typeface="Calibri"/>
                <a:cs typeface="Arial"/>
              </a:rPr>
              <a:t>: Video RAM (random access memory), là bộ nhớ chuyên dụng dành cho card đồ họa GPU</a:t>
            </a:r>
            <a:endParaRPr lang="vi-VN" dirty="0">
              <a:solidFill>
                <a:srgbClr val="000000"/>
              </a:solidFill>
              <a:latin typeface="Arial"/>
              <a:ea typeface="Calibri"/>
              <a:cs typeface="Arial"/>
            </a:endParaRPr>
          </a:p>
          <a:p>
            <a:pPr marL="171450" indent="-171450">
              <a:buFont typeface="Calibri"/>
              <a:buChar char="-"/>
            </a:pPr>
            <a:r>
              <a:rPr lang="vi-VN" b="1">
                <a:solidFill>
                  <a:srgbClr val="000000"/>
                </a:solidFill>
                <a:latin typeface="Arial"/>
                <a:ea typeface="Calibri"/>
                <a:cs typeface="Arial"/>
              </a:rPr>
              <a:t>GPU</a:t>
            </a:r>
            <a:r>
              <a:rPr lang="vi-VN">
                <a:solidFill>
                  <a:srgbClr val="000000"/>
                </a:solidFill>
                <a:latin typeface="Arial"/>
                <a:ea typeface="Calibri"/>
                <a:cs typeface="Arial"/>
              </a:rPr>
              <a:t>: Graphics processing unit là bộ xử lý đồ họa, vi mạch có tác dụng tăng tốc, tạo hình ảnh xử lý các tác vụ tính toán song song.</a:t>
            </a:r>
            <a:endParaRPr lang="vi-VN" dirty="0">
              <a:solidFill>
                <a:srgbClr val="000000"/>
              </a:solidFill>
              <a:latin typeface="Arial"/>
              <a:ea typeface="Calibri"/>
              <a:cs typeface="Arial"/>
            </a:endParaRPr>
          </a:p>
          <a:p>
            <a:pPr marL="171450" indent="-171450">
              <a:buFont typeface="Calibri"/>
              <a:buChar char="-"/>
            </a:pPr>
            <a:r>
              <a:rPr lang="vi-VN" b="1">
                <a:solidFill>
                  <a:srgbClr val="000000"/>
                </a:solidFill>
                <a:latin typeface="Arial"/>
                <a:ea typeface="Calibri"/>
                <a:cs typeface="Arial"/>
              </a:rPr>
              <a:t>Texture</a:t>
            </a:r>
            <a:r>
              <a:rPr lang="vi-VN">
                <a:solidFill>
                  <a:srgbClr val="000000"/>
                </a:solidFill>
                <a:latin typeface="Arial"/>
                <a:ea typeface="Calibri"/>
                <a:cs typeface="Arial"/>
              </a:rPr>
              <a:t>: vùng nhớ trên VRAM chứa dữ liệu của các mảng Pixel -&gt; dữ liệu hình ảnh ở trên GPU được lưu</a:t>
            </a:r>
            <a:endParaRPr lang="vi-VN" dirty="0">
              <a:solidFill>
                <a:srgbClr val="000000"/>
              </a:solidFill>
              <a:latin typeface="Arial"/>
              <a:ea typeface="Calibri"/>
              <a:cs typeface="Arial"/>
            </a:endParaRPr>
          </a:p>
          <a:p>
            <a:pPr marL="171450" indent="-171450">
              <a:buFont typeface="Calibri"/>
              <a:buChar char="-"/>
            </a:pPr>
            <a:endParaRPr lang="vi-VN" dirty="0">
              <a:solidFill>
                <a:srgbClr val="000000"/>
              </a:solidFill>
              <a:latin typeface="Arial"/>
              <a:ea typeface="Calibri"/>
              <a:cs typeface="Arial"/>
            </a:endParaRPr>
          </a:p>
          <a:p>
            <a:pPr marL="171450" indent="-171450">
              <a:buFont typeface="Calibri"/>
              <a:buChar char="-"/>
            </a:pPr>
            <a:r>
              <a:rPr lang="vi-VN" b="1">
                <a:solidFill>
                  <a:srgbClr val="000000"/>
                </a:solidFill>
                <a:latin typeface="Arial"/>
                <a:ea typeface="Calibri"/>
                <a:cs typeface="Arial"/>
              </a:rPr>
              <a:t>Vertex processing</a:t>
            </a:r>
            <a:r>
              <a:rPr lang="vi-VN">
                <a:solidFill>
                  <a:srgbClr val="000000"/>
                </a:solidFill>
                <a:latin typeface="Arial"/>
                <a:ea typeface="Calibri"/>
                <a:cs typeface="Arial"/>
              </a:rPr>
              <a:t>: (xử lý đỉnh) </a:t>
            </a:r>
            <a:r>
              <a:rPr lang="vi-VN">
                <a:solidFill>
                  <a:srgbClr val="000000"/>
                </a:solidFill>
                <a:latin typeface="Arial"/>
                <a:cs typeface="Arial"/>
              </a:rPr>
              <a:t>Là bước xác định vị trí của hình ảnh trên màn hình.</a:t>
            </a:r>
            <a:r>
              <a:rPr lang="vi-VN">
                <a:solidFill>
                  <a:srgbClr val="000000"/>
                </a:solidFill>
                <a:latin typeface="Arial"/>
                <a:ea typeface="Calibri"/>
                <a:cs typeface="Arial"/>
              </a:rPr>
              <a:t> mặc dù đang vẽ ảnh 2D, GPU bên dưới vẫn hiểu theo không gian đồ họa. Định vị vị trí qua các đỉnh của khung ảnh (2 hình tam giác). </a:t>
            </a:r>
            <a:r>
              <a:rPr lang="vi-VN">
                <a:solidFill>
                  <a:srgbClr val="000000"/>
                </a:solidFill>
                <a:latin typeface="Arial"/>
                <a:cs typeface="Arial"/>
              </a:rPr>
              <a:t>Bước này sẽ tính toán các phép toán toán học như xoay ảnh, thu phóng (scale), di chuyển hệ tọa độ để xem bức ảnh nằm ở đâu.</a:t>
            </a:r>
            <a:endParaRPr lang="vi-VN" dirty="0">
              <a:solidFill>
                <a:srgbClr val="000000"/>
              </a:solidFill>
              <a:latin typeface="Arial"/>
              <a:ea typeface="Calibri"/>
              <a:cs typeface="Arial"/>
            </a:endParaRPr>
          </a:p>
          <a:p>
            <a:pPr marL="171450" indent="-171450">
              <a:buFont typeface="Calibri"/>
              <a:buChar char="-"/>
            </a:pPr>
            <a:endParaRPr lang="vi-VN" dirty="0">
              <a:solidFill>
                <a:srgbClr val="000000"/>
              </a:solidFill>
              <a:latin typeface="Arial"/>
              <a:ea typeface="Calibri"/>
              <a:cs typeface="Arial"/>
            </a:endParaRPr>
          </a:p>
          <a:p>
            <a:pPr marL="171450" indent="-171450">
              <a:buFont typeface="Calibri"/>
              <a:buChar char="-"/>
            </a:pPr>
            <a:r>
              <a:rPr lang="vi-VN" b="1">
                <a:solidFill>
                  <a:srgbClr val="000000"/>
                </a:solidFill>
                <a:latin typeface="Arial"/>
                <a:ea typeface="Calibri"/>
                <a:cs typeface="Arial"/>
              </a:rPr>
              <a:t>Rasterization</a:t>
            </a:r>
            <a:r>
              <a:rPr lang="vi-VN">
                <a:solidFill>
                  <a:srgbClr val="000000"/>
                </a:solidFill>
                <a:latin typeface="Arial"/>
                <a:ea typeface="Calibri"/>
                <a:cs typeface="Arial"/>
              </a:rPr>
              <a:t>: </a:t>
            </a:r>
            <a:r>
              <a:rPr lang="vi-VN">
                <a:solidFill>
                  <a:srgbClr val="000000"/>
                </a:solidFill>
                <a:latin typeface="Arial"/>
                <a:cs typeface="Arial"/>
              </a:rPr>
              <a:t>GPU sẽ xác định xem vùng hình chữ nhật của bức ảnh </a:t>
            </a:r>
            <a:r>
              <a:rPr lang="vi-VN">
                <a:solidFill>
                  <a:srgbClr val="000000"/>
                </a:solidFill>
              </a:rPr>
              <a:t>sẽ bao phủ chính xác những ô vuông pixel nào trên lưới màn hình của bạn và chuẩn bị dữ liệu cho các ô pixel đó</a:t>
            </a:r>
            <a:endParaRPr lang="vi-VN" dirty="0">
              <a:solidFill>
                <a:srgbClr val="000000"/>
              </a:solidFill>
              <a:latin typeface="Arial"/>
              <a:ea typeface="Calibri"/>
              <a:cs typeface="Arial"/>
            </a:endParaRPr>
          </a:p>
          <a:p>
            <a:pPr marL="171450" indent="-171450">
              <a:buFont typeface="Calibri"/>
              <a:buChar char="-"/>
            </a:pPr>
            <a:endParaRPr lang="vi-VN" dirty="0">
              <a:solidFill>
                <a:srgbClr val="000000"/>
              </a:solidFill>
              <a:latin typeface="Arial"/>
              <a:ea typeface="Calibri"/>
              <a:cs typeface="Arial"/>
            </a:endParaRPr>
          </a:p>
          <a:p>
            <a:pPr marL="171450" indent="-171450">
              <a:buFont typeface="Calibri"/>
              <a:buChar char="-"/>
            </a:pPr>
            <a:r>
              <a:rPr lang="vi-VN" b="1">
                <a:solidFill>
                  <a:srgbClr val="000000"/>
                </a:solidFill>
                <a:latin typeface="Arial"/>
                <a:ea typeface="Calibri"/>
                <a:cs typeface="Arial"/>
              </a:rPr>
              <a:t>Pixel Shader</a:t>
            </a:r>
            <a:r>
              <a:rPr lang="vi-VN">
                <a:solidFill>
                  <a:srgbClr val="000000"/>
                </a:solidFill>
                <a:latin typeface="Arial"/>
                <a:ea typeface="Calibri"/>
                <a:cs typeface="Arial"/>
              </a:rPr>
              <a:t>: (đổ bóng điểm ảnh) </a:t>
            </a:r>
            <a:r>
              <a:rPr lang="vi-VN">
                <a:solidFill>
                  <a:srgbClr val="000000"/>
                </a:solidFill>
                <a:latin typeface="Arial"/>
                <a:cs typeface="Arial"/>
              </a:rPr>
              <a:t>Là một đoạn chương trình nhỏ chạy trực tiếp trên các lõi của GPU để tính toán và quyết định </a:t>
            </a:r>
            <a:r>
              <a:rPr lang="vi-VN" b="1">
                <a:solidFill>
                  <a:srgbClr val="000000"/>
                </a:solidFill>
                <a:latin typeface="Arial"/>
                <a:cs typeface="Arial"/>
              </a:rPr>
              <a:t>màu sắc</a:t>
            </a:r>
            <a:r>
              <a:rPr lang="vi-VN">
                <a:solidFill>
                  <a:srgbClr val="000000"/>
                </a:solidFill>
                <a:latin typeface="Arial"/>
                <a:cs typeface="Arial"/>
              </a:rPr>
              <a:t> của từng pixel hiển thị. Pixel Shader sẽ lấy (sample) màu từ file PNG gốc lên, tính toán xem màu đó khi hiển thị sẽ có độ sáng bao nhiêu có cần áp dụng bộ lọc hiệu ứng nào không (như làm mờ Blur, đổi tông màu trắng đen) trước khi xuất ra kết quả cuối cùng.</a:t>
            </a:r>
            <a:endParaRPr lang="vi-VN">
              <a:solidFill>
                <a:srgbClr val="000000"/>
              </a:solidFill>
              <a:latin typeface="Arial"/>
              <a:ea typeface="Calibri"/>
              <a:cs typeface="Arial"/>
            </a:endParaRPr>
          </a:p>
          <a:p>
            <a:pPr marL="171450" indent="-171450">
              <a:buFont typeface="Calibri"/>
              <a:buChar char="-"/>
            </a:pPr>
            <a:endParaRPr lang="vi-VN" dirty="0">
              <a:solidFill>
                <a:srgbClr val="000000"/>
              </a:solidFill>
              <a:latin typeface="Arial"/>
              <a:ea typeface="Calibri"/>
              <a:cs typeface="Arial"/>
            </a:endParaRPr>
          </a:p>
          <a:p>
            <a:pPr marL="171450" indent="-171450">
              <a:buFont typeface="Calibri"/>
              <a:buChar char="-"/>
            </a:pPr>
            <a:r>
              <a:rPr lang="vi-VN" b="1">
                <a:solidFill>
                  <a:srgbClr val="000000"/>
                </a:solidFill>
                <a:latin typeface="Arial"/>
                <a:ea typeface="Calibri"/>
                <a:cs typeface="Arial"/>
              </a:rPr>
              <a:t>Blend</a:t>
            </a:r>
            <a:r>
              <a:rPr lang="vi-VN">
                <a:solidFill>
                  <a:srgbClr val="000000"/>
                </a:solidFill>
                <a:latin typeface="Arial"/>
                <a:ea typeface="Calibri"/>
                <a:cs typeface="Arial"/>
              </a:rPr>
              <a:t>: (</a:t>
            </a:r>
            <a:r>
              <a:rPr lang="vi-VN">
                <a:solidFill>
                  <a:srgbClr val="000000"/>
                </a:solidFill>
                <a:latin typeface="Arial"/>
                <a:cs typeface="Arial"/>
              </a:rPr>
              <a:t>Hòa trộn màu</a:t>
            </a:r>
            <a:r>
              <a:rPr lang="vi-VN">
                <a:solidFill>
                  <a:srgbClr val="000000"/>
                </a:solidFill>
                <a:latin typeface="Arial"/>
                <a:ea typeface="Calibri"/>
                <a:cs typeface="Arial"/>
              </a:rPr>
              <a:t>) </a:t>
            </a:r>
            <a:r>
              <a:rPr lang="vi-VN">
                <a:solidFill>
                  <a:srgbClr val="000000"/>
                </a:solidFill>
                <a:latin typeface="Arial"/>
                <a:cs typeface="Arial"/>
              </a:rPr>
              <a:t>Là quá trình pha trộn màu sắc giữa các pixel của bức ảnh hiện tại với các pixel của nền ứng dụng nằm ngay phía sau nó. Ví dụ trong trường hợp có opacity thì nó sẽ tính toán để trộn màu</a:t>
            </a:r>
            <a:endParaRPr lang="vi-VN" dirty="0">
              <a:solidFill>
                <a:srgbClr val="000000"/>
              </a:solidFill>
              <a:latin typeface="Arial"/>
              <a:ea typeface="Calibri"/>
              <a:cs typeface="Arial"/>
            </a:endParaRPr>
          </a:p>
          <a:p>
            <a:pPr marL="171450" indent="-171450">
              <a:buFont typeface="Calibri"/>
              <a:buChar char="-"/>
            </a:pPr>
            <a:endParaRPr lang="vi-VN" dirty="0">
              <a:solidFill>
                <a:srgbClr val="000000"/>
              </a:solidFill>
              <a:latin typeface="Arial"/>
              <a:ea typeface="Calibri"/>
              <a:cs typeface="Arial"/>
            </a:endParaRPr>
          </a:p>
          <a:p>
            <a:pPr marL="171450" indent="-171450">
              <a:buFont typeface="Calibri"/>
              <a:buChar char="-"/>
            </a:pPr>
            <a:r>
              <a:rPr lang="vi-VN" b="1">
                <a:solidFill>
                  <a:srgbClr val="000000"/>
                </a:solidFill>
                <a:latin typeface="Arial"/>
                <a:ea typeface="Calibri"/>
                <a:cs typeface="Arial"/>
              </a:rPr>
              <a:t>Composition</a:t>
            </a:r>
            <a:r>
              <a:rPr lang="vi-VN">
                <a:solidFill>
                  <a:srgbClr val="000000"/>
                </a:solidFill>
                <a:latin typeface="Arial"/>
                <a:ea typeface="Calibri"/>
                <a:cs typeface="Arial"/>
              </a:rPr>
              <a:t>: (Trộn lớp hiển thị) </a:t>
            </a:r>
            <a:r>
              <a:rPr lang="vi-VN">
                <a:solidFill>
                  <a:srgbClr val="000000"/>
                </a:solidFill>
                <a:latin typeface="Arial"/>
                <a:cs typeface="Arial"/>
              </a:rPr>
              <a:t>Là giai đoạn cuối cùng, gom tất cả các bề mặt đồ họa đã vẽ riêng rẽ lại để tạo thành một giao diện hoàn chỉnh. </a:t>
            </a:r>
            <a:r>
              <a:rPr lang="vi-VN">
                <a:solidFill>
                  <a:srgbClr val="000000"/>
                </a:solidFill>
              </a:rPr>
              <a:t>Cơ chế Composition (quản lý bởi Desktop Window Manager) sẽ lấy phần hình ảnh 2D vừa render xong, đè các nút bấm XAML lên, thêm hiệu ứng đổ bóng cửa sổ, rồi "đóng gói" tất cả thành một khung hình (Frame) duy nhất để gửi thẳng ra màn hình vật lý.</a:t>
            </a:r>
            <a:endParaRPr lang="vi-VN" dirty="0">
              <a:solidFill>
                <a:srgbClr val="000000"/>
              </a:solidFill>
              <a:latin typeface="Arial"/>
              <a:ea typeface="Calibri"/>
              <a:cs typeface="Arial"/>
            </a:endParaRPr>
          </a:p>
          <a:p>
            <a:pPr marL="171450" indent="-171450">
              <a:buFont typeface="Calibri"/>
              <a:buChar char="-"/>
            </a:pPr>
            <a:endParaRPr lang="vi-VN" dirty="0">
              <a:solidFill>
                <a:srgbClr val="000000"/>
              </a:solidFill>
              <a:latin typeface="Arial"/>
              <a:ea typeface="Calibri"/>
              <a:cs typeface="Arial"/>
            </a:endParaRPr>
          </a:p>
          <a:p>
            <a:pPr>
              <a:buFont typeface="Calibri"/>
              <a:buChar char="-"/>
            </a:pPr>
            <a:r>
              <a:rPr lang="vi-VN" b="1">
                <a:solidFill>
                  <a:srgbClr val="000000"/>
                </a:solidFill>
                <a:latin typeface="Arial"/>
                <a:ea typeface="Calibri"/>
                <a:cs typeface="Arial"/>
              </a:rPr>
              <a:t>Frame Buffer</a:t>
            </a:r>
            <a:r>
              <a:rPr lang="vi-VN">
                <a:solidFill>
                  <a:srgbClr val="000000"/>
                </a:solidFill>
                <a:latin typeface="Arial"/>
                <a:ea typeface="Calibri"/>
                <a:cs typeface="Arial"/>
              </a:rPr>
              <a:t>: (bộ đệm khung hình) </a:t>
            </a:r>
            <a:r>
              <a:rPr lang="vi-VN">
                <a:solidFill>
                  <a:srgbClr val="000000"/>
                </a:solidFill>
              </a:rPr>
              <a:t>Là một vùng nhớ chuyên dụng (nằm trên VRAM của GPU) dùng để chứa toàn bộ dữ liệu pixel của một </a:t>
            </a:r>
            <a:r>
              <a:rPr lang="vi-VN" b="1">
                <a:solidFill>
                  <a:srgbClr val="000000"/>
                </a:solidFill>
              </a:rPr>
              <a:t>khung hình hoàn chỉnh</a:t>
            </a:r>
            <a:r>
              <a:rPr lang="vi-VN">
                <a:solidFill>
                  <a:srgbClr val="000000"/>
                </a:solidFill>
              </a:rPr>
              <a:t> đã được render xong xuôi và sẵn sàng hiển thị.</a:t>
            </a:r>
            <a:endParaRPr lang="vi-VN" dirty="0">
              <a:solidFill>
                <a:srgbClr val="000000"/>
              </a:solidFill>
              <a:latin typeface="Arial"/>
              <a:ea typeface="Calibri"/>
              <a:cs typeface="Arial"/>
            </a:endParaRPr>
          </a:p>
          <a:p>
            <a:r>
              <a:rPr lang="vi-VN">
                <a:solidFill>
                  <a:srgbClr val="000000"/>
                </a:solidFill>
                <a:latin typeface="Arial"/>
                <a:cs typeface="Arial"/>
              </a:rPr>
              <a:t>Cơ chế Double Buffering (Bộ đệm đôi):</a:t>
            </a:r>
            <a:r>
              <a:rPr lang="vi-VN" dirty="0">
                <a:solidFill>
                  <a:srgbClr val="000000"/>
                </a:solidFill>
                <a:latin typeface="Arial"/>
                <a:cs typeface="Arial"/>
              </a:rPr>
              <a:t> </a:t>
            </a:r>
            <a:r>
              <a:rPr lang="vi-VN">
                <a:solidFill>
                  <a:srgbClr val="000000"/>
                </a:solidFill>
                <a:latin typeface="Arial"/>
                <a:cs typeface="Arial"/>
              </a:rPr>
              <a:t>Để tránh hiện tượng xé hình (tearing), GPU thường dùng 2 Frame Buffer:</a:t>
            </a:r>
          </a:p>
          <a:p>
            <a:pPr lvl="1" indent="-171450">
              <a:buFont typeface="Arial"/>
              <a:buChar char="•"/>
            </a:pPr>
            <a:r>
              <a:rPr lang="vi-VN">
                <a:solidFill>
                  <a:srgbClr val="000000"/>
                </a:solidFill>
                <a:latin typeface="Arial"/>
                <a:cs typeface="Arial"/>
              </a:rPr>
              <a:t>Back Buffer (Bộ đệm sau): Nơi GPU âm thầm vẽ các lệnh từ CanvasControl lên</a:t>
            </a:r>
          </a:p>
          <a:p>
            <a:pPr lvl="1" indent="-171450">
              <a:buFont typeface="Arial"/>
              <a:buChar char="•"/>
            </a:pPr>
            <a:r>
              <a:rPr lang="vi-VN">
                <a:solidFill>
                  <a:srgbClr val="000000"/>
                </a:solidFill>
                <a:latin typeface="Arial"/>
                <a:cs typeface="Arial"/>
              </a:rPr>
              <a:t>Front Buffer (Bộ đệm trước):</a:t>
            </a:r>
            <a:r>
              <a:rPr lang="vi-VN" dirty="0">
                <a:solidFill>
                  <a:srgbClr val="000000"/>
                </a:solidFill>
                <a:latin typeface="Arial"/>
                <a:cs typeface="Arial"/>
              </a:rPr>
              <a:t> </a:t>
            </a:r>
            <a:r>
              <a:rPr lang="vi-VN">
                <a:solidFill>
                  <a:srgbClr val="000000"/>
                </a:solidFill>
                <a:latin typeface="Arial"/>
                <a:cs typeface="Arial"/>
              </a:rPr>
              <a:t>Nơi chứa khung hình đã vẽ xong hoàn toàn để gửi ra màn hình. Khi vẽ xong ở Back Buffer, hai bộ đệm này sẽ hoán đổi (Swap) vị trí cho nhau.</a:t>
            </a:r>
            <a:endParaRPr lang="vi-VN">
              <a:latin typeface="Arial"/>
              <a:cs typeface="Arial"/>
            </a:endParaRPr>
          </a:p>
          <a:p>
            <a:endParaRPr lang="vi-VN" dirty="0">
              <a:solidFill>
                <a:srgbClr val="000000"/>
              </a:solidFill>
              <a:latin typeface="Arial"/>
              <a:ea typeface="Calibri"/>
              <a:cs typeface="Arial"/>
            </a:endParaRPr>
          </a:p>
          <a:p>
            <a:pPr>
              <a:buFont typeface="Arial"/>
              <a:buChar char="•"/>
            </a:pPr>
            <a:r>
              <a:rPr lang="vi-VN" b="1">
                <a:solidFill>
                  <a:srgbClr val="000000"/>
                </a:solidFill>
                <a:latin typeface="Arial"/>
                <a:ea typeface="Calibri"/>
                <a:cs typeface="Arial"/>
              </a:rPr>
              <a:t>Scant-out: (</a:t>
            </a:r>
            <a:r>
              <a:rPr lang="vi-VN">
                <a:solidFill>
                  <a:srgbClr val="000000"/>
                </a:solidFill>
                <a:latin typeface="Arial"/>
                <a:cs typeface="Arial"/>
              </a:rPr>
              <a:t>Quét tín hiệu / Xuất hình) </a:t>
            </a:r>
            <a:r>
              <a:rPr lang="vi-VN">
                <a:solidFill>
                  <a:srgbClr val="000000"/>
                </a:solidFill>
              </a:rPr>
              <a:t>Là hành động một bộ vi xử lý phần cứng chuyên dụng (gọi là Display Controller/Engine trên GPU) liên tục đọc dữ liệu từ </a:t>
            </a:r>
            <a:r>
              <a:rPr lang="vi-VN" b="1">
                <a:solidFill>
                  <a:srgbClr val="000000"/>
                </a:solidFill>
              </a:rPr>
              <a:t>Front Buffer</a:t>
            </a:r>
            <a:r>
              <a:rPr lang="vi-VN">
                <a:solidFill>
                  <a:srgbClr val="000000"/>
                </a:solidFill>
              </a:rPr>
              <a:t> và chuyển đổi nó thành tín hiệu điện/ánh sáng gửi qua dây cáp (HDMI/DisplayPort) tới màn hình.</a:t>
            </a:r>
            <a:endParaRPr lang="vi-VN" b="1" dirty="0">
              <a:solidFill>
                <a:srgbClr val="000000"/>
              </a:solidFill>
              <a:latin typeface="Arial"/>
              <a:ea typeface="Calibri"/>
              <a:cs typeface="Arial"/>
            </a:endParaRPr>
          </a:p>
          <a:p>
            <a:pPr>
              <a:buFont typeface="Arial"/>
              <a:buChar char="•"/>
            </a:pPr>
            <a:endParaRPr lang="vi-VN" b="1" dirty="0">
              <a:solidFill>
                <a:srgbClr val="000000"/>
              </a:solidFill>
              <a:latin typeface="Arial"/>
              <a:ea typeface="Calibri"/>
              <a:cs typeface="Arial"/>
            </a:endParaRPr>
          </a:p>
          <a:p>
            <a:pPr marL="171450" indent="-171450">
              <a:buFont typeface="Calibri"/>
              <a:buChar char="-"/>
            </a:pPr>
            <a:endParaRPr lang="vi-VN" dirty="0">
              <a:solidFill>
                <a:srgbClr val="000000"/>
              </a:solidFill>
              <a:latin typeface="Arial"/>
              <a:ea typeface="Calibri"/>
              <a:cs typeface="Arial"/>
            </a:endParaRPr>
          </a:p>
          <a:p>
            <a:pPr marL="171450" indent="-171450">
              <a:buFont typeface="Calibri"/>
              <a:buChar char="-"/>
            </a:pPr>
            <a:endParaRPr lang="vi-VN" dirty="0">
              <a:solidFill>
                <a:srgbClr val="000000"/>
              </a:solidFill>
              <a:latin typeface="Arial"/>
              <a:ea typeface="Calibri"/>
              <a:cs typeface="Arial"/>
            </a:endParaRPr>
          </a:p>
          <a:p>
            <a:pPr marL="228600" indent="-228600">
              <a:buFont typeface="Calibri"/>
              <a:buChar char="-"/>
            </a:pPr>
            <a:endParaRPr lang="vi-VN" dirty="0">
              <a:solidFill>
                <a:srgbClr val="000000"/>
              </a:solidFill>
              <a:latin typeface="Arial"/>
              <a:ea typeface="Calibri"/>
              <a:cs typeface="Arial"/>
            </a:endParaRPr>
          </a:p>
        </p:txBody>
      </p:sp>
      <p:sp>
        <p:nvSpPr>
          <p:cNvPr id="4" name="Chỗ dành sẵn cho Số hiệu Bản chiếu 3"/>
          <p:cNvSpPr>
            <a:spLocks noGrp="1"/>
          </p:cNvSpPr>
          <p:nvPr>
            <p:ph type="sldNum" sz="quarter" idx="5"/>
          </p:nvPr>
        </p:nvSpPr>
        <p:spPr/>
        <p:txBody>
          <a:bodyPr/>
          <a:lstStyle/>
          <a:p>
            <a:fld id="{1ABA206C-4022-4CC0-8E55-736A0C024E77}" type="slidenum">
              <a:rPr lang="vi-VN"/>
              <a:t>4</a:t>
            </a:fld>
            <a:endParaRPr lang="vi-VN"/>
          </a:p>
        </p:txBody>
      </p:sp>
    </p:spTree>
    <p:extLst>
      <p:ext uri="{BB962C8B-B14F-4D97-AF65-F5344CB8AC3E}">
        <p14:creationId xmlns:p14="http://schemas.microsoft.com/office/powerpoint/2010/main" val="3853250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a:ea typeface="Calibri"/>
              <a:cs typeface="Calibri"/>
            </a:endParaRPr>
          </a:p>
          <a:p>
            <a:pPr marL="171450" indent="-171450">
              <a:buFont typeface="Calibri,Sans-Serif"/>
              <a:buChar char="-"/>
            </a:pPr>
            <a:endParaRPr lang="en-US" dirty="0">
              <a:ea typeface="Calibri"/>
              <a:cs typeface="Calibri"/>
            </a:endParaRPr>
          </a:p>
        </p:txBody>
      </p:sp>
      <p:sp>
        <p:nvSpPr>
          <p:cNvPr id="4" name="Chỗ dành sẵn cho Số hiệu Bản chiếu 3"/>
          <p:cNvSpPr>
            <a:spLocks noGrp="1"/>
          </p:cNvSpPr>
          <p:nvPr>
            <p:ph type="sldNum" sz="quarter" idx="5"/>
          </p:nvPr>
        </p:nvSpPr>
        <p:spPr/>
        <p:txBody>
          <a:bodyPr/>
          <a:lstStyle/>
          <a:p>
            <a:fld id="{1ABA206C-4022-4CC0-8E55-736A0C024E77}" type="slidenum">
              <a:rPr lang="vi-VN"/>
              <a:t>5</a:t>
            </a:fld>
            <a:endParaRPr lang="vi-VN"/>
          </a:p>
        </p:txBody>
      </p:sp>
    </p:spTree>
    <p:extLst>
      <p:ext uri="{BB962C8B-B14F-4D97-AF65-F5344CB8AC3E}">
        <p14:creationId xmlns:p14="http://schemas.microsoft.com/office/powerpoint/2010/main" val="2105258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b="1" dirty="0">
              <a:ea typeface="Calibri" panose="020F0502020204030204"/>
              <a:cs typeface="+mn-lt"/>
            </a:endParaRPr>
          </a:p>
        </p:txBody>
      </p:sp>
      <p:sp>
        <p:nvSpPr>
          <p:cNvPr id="4" name="Chỗ dành sẵn cho Số hiệu Bản chiếu 3"/>
          <p:cNvSpPr>
            <a:spLocks noGrp="1"/>
          </p:cNvSpPr>
          <p:nvPr>
            <p:ph type="sldNum" sz="quarter" idx="5"/>
          </p:nvPr>
        </p:nvSpPr>
        <p:spPr/>
        <p:txBody>
          <a:bodyPr/>
          <a:lstStyle/>
          <a:p>
            <a:fld id="{1ABA206C-4022-4CC0-8E55-736A0C024E77}" type="slidenum">
              <a:rPr lang="vi-VN"/>
              <a:t>6</a:t>
            </a:fld>
            <a:endParaRPr lang="vi-VN"/>
          </a:p>
        </p:txBody>
      </p:sp>
    </p:spTree>
    <p:extLst>
      <p:ext uri="{BB962C8B-B14F-4D97-AF65-F5344CB8AC3E}">
        <p14:creationId xmlns:p14="http://schemas.microsoft.com/office/powerpoint/2010/main" val="12361926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Quá</a:t>
            </a:r>
            <a:r>
              <a:rPr lang="en-US" b="1" dirty="0"/>
              <a:t> </a:t>
            </a:r>
            <a:r>
              <a:rPr lang="en-US" b="1" dirty="0" err="1"/>
              <a:t>trình</a:t>
            </a:r>
            <a:r>
              <a:rPr lang="en-US" b="1" dirty="0"/>
              <a:t> render control </a:t>
            </a:r>
            <a:r>
              <a:rPr lang="en-US" b="1" dirty="0" err="1"/>
              <a:t>trong</a:t>
            </a:r>
            <a:r>
              <a:rPr lang="en-US" b="1" dirty="0"/>
              <a:t> XAML</a:t>
            </a:r>
          </a:p>
          <a:p>
            <a:r>
              <a:rPr lang="en-US" dirty="0"/>
              <a:t> </a:t>
            </a:r>
            <a:endParaRPr lang="en-US" dirty="0">
              <a:ea typeface="Calibri"/>
              <a:cs typeface="Calibri"/>
            </a:endParaRPr>
          </a:p>
          <a:p>
            <a:r>
              <a:rPr lang="en-US" b="1" dirty="0"/>
              <a:t>1. Parse (</a:t>
            </a:r>
            <a:r>
              <a:rPr lang="en-US" b="1" dirty="0" err="1"/>
              <a:t>phân</a:t>
            </a:r>
            <a:r>
              <a:rPr lang="en-US" b="1" dirty="0"/>
              <a:t> </a:t>
            </a:r>
            <a:r>
              <a:rPr lang="en-US" b="1" dirty="0" err="1"/>
              <a:t>tích</a:t>
            </a:r>
            <a:r>
              <a:rPr lang="en-US" b="1" dirty="0"/>
              <a:t> </a:t>
            </a:r>
            <a:r>
              <a:rPr lang="en-US" b="1" dirty="0" err="1"/>
              <a:t>cú</a:t>
            </a:r>
            <a:r>
              <a:rPr lang="en-US" b="1" dirty="0"/>
              <a:t> </a:t>
            </a:r>
            <a:r>
              <a:rPr lang="en-US" b="1" dirty="0" err="1"/>
              <a:t>pháp</a:t>
            </a:r>
            <a:r>
              <a:rPr lang="en-US" b="1" dirty="0"/>
              <a:t>)</a:t>
            </a:r>
            <a:endParaRPr lang="en-US" b="1" dirty="0">
              <a:ea typeface="Calibri"/>
              <a:cs typeface="Calibri"/>
            </a:endParaRPr>
          </a:p>
          <a:p>
            <a:r>
              <a:rPr lang="en-US" dirty="0" err="1"/>
              <a:t>Đọc</a:t>
            </a:r>
            <a:r>
              <a:rPr lang="en-US" dirty="0"/>
              <a:t> file XAML </a:t>
            </a:r>
            <a:r>
              <a:rPr lang="en-US" dirty="0" err="1"/>
              <a:t>và</a:t>
            </a:r>
            <a:r>
              <a:rPr lang="en-US" dirty="0"/>
              <a:t> parse </a:t>
            </a:r>
            <a:r>
              <a:rPr lang="en-US" dirty="0" err="1"/>
              <a:t>ra</a:t>
            </a:r>
            <a:r>
              <a:rPr lang="en-US" dirty="0"/>
              <a:t> </a:t>
            </a:r>
            <a:r>
              <a:rPr lang="en-US" dirty="0" err="1"/>
              <a:t>các</a:t>
            </a:r>
            <a:r>
              <a:rPr lang="en-US" dirty="0"/>
              <a:t> class</a:t>
            </a:r>
            <a:endParaRPr lang="en-US" dirty="0">
              <a:ea typeface="Calibri"/>
              <a:cs typeface="Calibri"/>
            </a:endParaRPr>
          </a:p>
          <a:p>
            <a:r>
              <a:rPr lang="en-US" dirty="0"/>
              <a:t> </a:t>
            </a:r>
            <a:endParaRPr lang="en-US" dirty="0">
              <a:ea typeface="Calibri"/>
              <a:cs typeface="Calibri"/>
            </a:endParaRPr>
          </a:p>
          <a:p>
            <a:r>
              <a:rPr lang="en-US" b="1"/>
              <a:t>2. Layout</a:t>
            </a:r>
            <a:endParaRPr lang="en-US" b="1">
              <a:ea typeface="Calibri"/>
              <a:cs typeface="Calibri"/>
            </a:endParaRPr>
          </a:p>
          <a:p>
            <a:r>
              <a:rPr lang="en-US" dirty="0"/>
              <a:t>a. Measure (</a:t>
            </a:r>
            <a:r>
              <a:rPr lang="en-US" dirty="0" err="1"/>
              <a:t>đo</a:t>
            </a:r>
            <a:r>
              <a:rPr lang="en-US" dirty="0"/>
              <a:t> </a:t>
            </a:r>
            <a:r>
              <a:rPr lang="en-US" dirty="0" err="1"/>
              <a:t>lường</a:t>
            </a:r>
            <a:r>
              <a:rPr lang="en-US" dirty="0"/>
              <a:t>):</a:t>
            </a:r>
            <a:endParaRPr lang="en-US" dirty="0">
              <a:ea typeface="Calibri"/>
              <a:cs typeface="Calibri"/>
            </a:endParaRPr>
          </a:p>
          <a:p>
            <a:r>
              <a:rPr lang="en-US" dirty="0" err="1"/>
              <a:t>Hệ</a:t>
            </a:r>
            <a:r>
              <a:rPr lang="en-US" dirty="0"/>
              <a:t> </a:t>
            </a:r>
            <a:r>
              <a:rPr lang="en-US" dirty="0" err="1"/>
              <a:t>thống</a:t>
            </a:r>
            <a:r>
              <a:rPr lang="en-US" dirty="0"/>
              <a:t> </a:t>
            </a:r>
            <a:r>
              <a:rPr lang="en-US" dirty="0" err="1"/>
              <a:t>duyệt</a:t>
            </a:r>
            <a:r>
              <a:rPr lang="en-US" dirty="0"/>
              <a:t> </a:t>
            </a:r>
            <a:r>
              <a:rPr lang="en-US" dirty="0" err="1"/>
              <a:t>cây</a:t>
            </a:r>
            <a:r>
              <a:rPr lang="en-US" dirty="0"/>
              <a:t> </a:t>
            </a:r>
            <a:r>
              <a:rPr lang="en-US" dirty="0" err="1"/>
              <a:t>giao</a:t>
            </a:r>
            <a:r>
              <a:rPr lang="en-US" dirty="0"/>
              <a:t> </a:t>
            </a:r>
            <a:r>
              <a:rPr lang="en-US" dirty="0" err="1"/>
              <a:t>diện</a:t>
            </a:r>
            <a:r>
              <a:rPr lang="en-US" dirty="0"/>
              <a:t> </a:t>
            </a:r>
            <a:r>
              <a:rPr lang="en-US" dirty="0" err="1"/>
              <a:t>từ</a:t>
            </a:r>
            <a:r>
              <a:rPr lang="en-US" dirty="0"/>
              <a:t> </a:t>
            </a:r>
            <a:r>
              <a:rPr lang="en-US" dirty="0" err="1"/>
              <a:t>trên</a:t>
            </a:r>
            <a:r>
              <a:rPr lang="en-US" dirty="0"/>
              <a:t> </a:t>
            </a:r>
            <a:r>
              <a:rPr lang="en-US" dirty="0" err="1"/>
              <a:t>xuống</a:t>
            </a:r>
            <a:r>
              <a:rPr lang="en-US" dirty="0"/>
              <a:t>, </a:t>
            </a:r>
            <a:r>
              <a:rPr lang="en-US" dirty="0" err="1"/>
              <a:t>truyền</a:t>
            </a:r>
            <a:r>
              <a:rPr lang="en-US" dirty="0"/>
              <a:t> </a:t>
            </a:r>
            <a:r>
              <a:rPr lang="en-US" dirty="0" err="1"/>
              <a:t>các</a:t>
            </a:r>
            <a:r>
              <a:rPr lang="en-US" dirty="0"/>
              <a:t> </a:t>
            </a:r>
            <a:r>
              <a:rPr lang="en-US" dirty="0" err="1"/>
              <a:t>kích</a:t>
            </a:r>
            <a:r>
              <a:rPr lang="en-US" dirty="0"/>
              <a:t> </a:t>
            </a:r>
            <a:r>
              <a:rPr lang="en-US" dirty="0" err="1"/>
              <a:t>thước</a:t>
            </a:r>
            <a:r>
              <a:rPr lang="en-US" dirty="0"/>
              <a:t> </a:t>
            </a:r>
            <a:r>
              <a:rPr lang="en-US" dirty="0" err="1"/>
              <a:t>từ</a:t>
            </a:r>
            <a:r>
              <a:rPr lang="en-US" dirty="0"/>
              <a:t> </a:t>
            </a:r>
            <a:r>
              <a:rPr lang="en-US" dirty="0" err="1"/>
              <a:t>mẹ</a:t>
            </a:r>
            <a:r>
              <a:rPr lang="en-US" dirty="0"/>
              <a:t> </a:t>
            </a:r>
            <a:r>
              <a:rPr lang="en-US" dirty="0" err="1"/>
              <a:t>xuống</a:t>
            </a:r>
            <a:r>
              <a:rPr lang="en-US" dirty="0"/>
              <a:t> con, </a:t>
            </a:r>
            <a:r>
              <a:rPr lang="en-US" dirty="0" err="1"/>
              <a:t>mỗi</a:t>
            </a:r>
            <a:r>
              <a:rPr lang="en-US" dirty="0"/>
              <a:t> control </a:t>
            </a:r>
            <a:r>
              <a:rPr lang="en-US" dirty="0" err="1"/>
              <a:t>sẽ</a:t>
            </a:r>
            <a:r>
              <a:rPr lang="en-US" dirty="0"/>
              <a:t> </a:t>
            </a:r>
            <a:r>
              <a:rPr lang="en-US" dirty="0" err="1"/>
              <a:t>yêu</a:t>
            </a:r>
            <a:r>
              <a:rPr lang="en-US" dirty="0"/>
              <a:t> </a:t>
            </a:r>
            <a:r>
              <a:rPr lang="en-US" dirty="0" err="1"/>
              <a:t>cầu</a:t>
            </a:r>
            <a:r>
              <a:rPr lang="en-US" dirty="0"/>
              <a:t> 1 </a:t>
            </a:r>
            <a:r>
              <a:rPr lang="en-US" dirty="0" err="1"/>
              <a:t>kích</a:t>
            </a:r>
            <a:r>
              <a:rPr lang="en-US" dirty="0"/>
              <a:t> </a:t>
            </a:r>
            <a:r>
              <a:rPr lang="en-US" dirty="0" err="1"/>
              <a:t>thước</a:t>
            </a:r>
            <a:r>
              <a:rPr lang="en-US" dirty="0"/>
              <a:t> </a:t>
            </a:r>
            <a:r>
              <a:rPr lang="en-US" dirty="0" err="1"/>
              <a:t>mong</a:t>
            </a:r>
            <a:r>
              <a:rPr lang="en-US" dirty="0"/>
              <a:t> </a:t>
            </a:r>
            <a:r>
              <a:rPr lang="en-US" dirty="0" err="1"/>
              <a:t>muốn</a:t>
            </a:r>
            <a:r>
              <a:rPr lang="en-US" dirty="0"/>
              <a:t> (Desired size)</a:t>
            </a:r>
            <a:endParaRPr lang="en-US" dirty="0">
              <a:ea typeface="Calibri"/>
              <a:cs typeface="Calibri"/>
            </a:endParaRPr>
          </a:p>
          <a:p>
            <a:r>
              <a:rPr lang="en-US" dirty="0"/>
              <a:t>b. Arrange (</a:t>
            </a:r>
            <a:r>
              <a:rPr lang="en-US" dirty="0" err="1"/>
              <a:t>sắp</a:t>
            </a:r>
            <a:r>
              <a:rPr lang="en-US" dirty="0"/>
              <a:t> </a:t>
            </a:r>
            <a:r>
              <a:rPr lang="en-US" dirty="0" err="1"/>
              <a:t>xếp</a:t>
            </a:r>
            <a:r>
              <a:rPr lang="en-US" dirty="0"/>
              <a:t>):</a:t>
            </a:r>
            <a:endParaRPr lang="en-US" dirty="0">
              <a:ea typeface="Calibri"/>
              <a:cs typeface="Calibri"/>
            </a:endParaRPr>
          </a:p>
          <a:p>
            <a:r>
              <a:rPr lang="en-US" dirty="0"/>
              <a:t>Sau </a:t>
            </a:r>
            <a:r>
              <a:rPr lang="en-US" dirty="0" err="1"/>
              <a:t>khi</a:t>
            </a:r>
            <a:r>
              <a:rPr lang="en-US" dirty="0"/>
              <a:t> </a:t>
            </a:r>
            <a:r>
              <a:rPr lang="en-US" dirty="0" err="1"/>
              <a:t>có</a:t>
            </a:r>
            <a:r>
              <a:rPr lang="en-US" dirty="0"/>
              <a:t> </a:t>
            </a:r>
            <a:r>
              <a:rPr lang="en-US" dirty="0" err="1"/>
              <a:t>được</a:t>
            </a:r>
            <a:r>
              <a:rPr lang="en-US" dirty="0"/>
              <a:t> </a:t>
            </a:r>
            <a:r>
              <a:rPr lang="en-US" dirty="0" err="1"/>
              <a:t>kích</a:t>
            </a:r>
            <a:r>
              <a:rPr lang="en-US" dirty="0"/>
              <a:t> </a:t>
            </a:r>
            <a:r>
              <a:rPr lang="en-US" dirty="0" err="1"/>
              <a:t>thước</a:t>
            </a:r>
            <a:r>
              <a:rPr lang="en-US" dirty="0"/>
              <a:t> </a:t>
            </a:r>
            <a:r>
              <a:rPr lang="en-US" dirty="0" err="1"/>
              <a:t>đo</a:t>
            </a:r>
            <a:r>
              <a:rPr lang="en-US" dirty="0"/>
              <a:t> </a:t>
            </a:r>
            <a:r>
              <a:rPr lang="en-US" dirty="0" err="1"/>
              <a:t>lường</a:t>
            </a:r>
            <a:r>
              <a:rPr lang="en-US" dirty="0"/>
              <a:t>, </a:t>
            </a:r>
            <a:r>
              <a:rPr lang="en-US" dirty="0" err="1"/>
              <a:t>các</a:t>
            </a:r>
            <a:r>
              <a:rPr lang="en-US" dirty="0"/>
              <a:t> </a:t>
            </a:r>
            <a:r>
              <a:rPr lang="en-US" dirty="0" err="1"/>
              <a:t>thằng</a:t>
            </a:r>
            <a:r>
              <a:rPr lang="en-US" dirty="0"/>
              <a:t> cha </a:t>
            </a:r>
            <a:r>
              <a:rPr lang="en-US" dirty="0" err="1"/>
              <a:t>sẽ</a:t>
            </a:r>
            <a:r>
              <a:rPr lang="en-US" dirty="0"/>
              <a:t> </a:t>
            </a:r>
            <a:r>
              <a:rPr lang="en-US" dirty="0" err="1"/>
              <a:t>giới</a:t>
            </a:r>
            <a:r>
              <a:rPr lang="en-US" dirty="0"/>
              <a:t> </a:t>
            </a:r>
            <a:r>
              <a:rPr lang="en-US" dirty="0" err="1"/>
              <a:t>hạn</a:t>
            </a:r>
            <a:r>
              <a:rPr lang="en-US" dirty="0"/>
              <a:t> </a:t>
            </a:r>
            <a:r>
              <a:rPr lang="en-US" dirty="0" err="1"/>
              <a:t>không</a:t>
            </a:r>
            <a:r>
              <a:rPr lang="en-US" dirty="0"/>
              <a:t> </a:t>
            </a:r>
            <a:r>
              <a:rPr lang="en-US" dirty="0" err="1"/>
              <a:t>gian</a:t>
            </a:r>
            <a:r>
              <a:rPr lang="en-US" dirty="0"/>
              <a:t> </a:t>
            </a:r>
            <a:r>
              <a:rPr lang="en-US" dirty="0" err="1"/>
              <a:t>cho</a:t>
            </a:r>
            <a:r>
              <a:rPr lang="en-US" dirty="0"/>
              <a:t> </a:t>
            </a:r>
            <a:r>
              <a:rPr lang="en-US" dirty="0" err="1"/>
              <a:t>thằng</a:t>
            </a:r>
            <a:r>
              <a:rPr lang="en-US" dirty="0"/>
              <a:t> con, </a:t>
            </a:r>
            <a:r>
              <a:rPr lang="en-US" dirty="0" err="1"/>
              <a:t>và</a:t>
            </a:r>
            <a:r>
              <a:rPr lang="en-US" dirty="0"/>
              <a:t> </a:t>
            </a:r>
            <a:r>
              <a:rPr lang="en-US" dirty="0" err="1"/>
              <a:t>đặt</a:t>
            </a:r>
            <a:r>
              <a:rPr lang="en-US" dirty="0"/>
              <a:t> </a:t>
            </a:r>
            <a:r>
              <a:rPr lang="en-US" dirty="0" err="1"/>
              <a:t>vào</a:t>
            </a:r>
            <a:r>
              <a:rPr lang="en-US" dirty="0"/>
              <a:t> </a:t>
            </a:r>
            <a:r>
              <a:rPr lang="en-US" dirty="0" err="1"/>
              <a:t>các</a:t>
            </a:r>
            <a:r>
              <a:rPr lang="en-US" dirty="0"/>
              <a:t> </a:t>
            </a:r>
            <a:r>
              <a:rPr lang="en-US" dirty="0" err="1"/>
              <a:t>vị</a:t>
            </a:r>
            <a:r>
              <a:rPr lang="en-US" dirty="0"/>
              <a:t> </a:t>
            </a:r>
            <a:r>
              <a:rPr lang="en-US" dirty="0" err="1"/>
              <a:t>trí</a:t>
            </a:r>
            <a:r>
              <a:rPr lang="en-US" dirty="0"/>
              <a:t> </a:t>
            </a:r>
            <a:r>
              <a:rPr lang="en-US" dirty="0" err="1"/>
              <a:t>cụ</a:t>
            </a:r>
            <a:r>
              <a:rPr lang="en-US" dirty="0"/>
              <a:t> </a:t>
            </a:r>
            <a:r>
              <a:rPr lang="en-US" dirty="0" err="1"/>
              <a:t>thể</a:t>
            </a:r>
            <a:r>
              <a:rPr lang="en-US" dirty="0"/>
              <a:t>.</a:t>
            </a:r>
            <a:endParaRPr lang="en-US" dirty="0">
              <a:ea typeface="Calibri"/>
              <a:cs typeface="Calibri"/>
            </a:endParaRPr>
          </a:p>
          <a:p>
            <a:r>
              <a:rPr lang="en-US" dirty="0"/>
              <a:t> </a:t>
            </a:r>
            <a:endParaRPr lang="en-US" dirty="0">
              <a:ea typeface="Calibri"/>
              <a:cs typeface="Calibri"/>
            </a:endParaRPr>
          </a:p>
          <a:p>
            <a:r>
              <a:rPr lang="en-US" b="1" dirty="0"/>
              <a:t>3. Render (</a:t>
            </a:r>
            <a:r>
              <a:rPr lang="en-US" b="1" dirty="0" err="1"/>
              <a:t>vẽ</a:t>
            </a:r>
            <a:r>
              <a:rPr lang="en-US" b="1" dirty="0"/>
              <a:t> </a:t>
            </a:r>
            <a:r>
              <a:rPr lang="en-US" b="1" dirty="0" err="1"/>
              <a:t>lên</a:t>
            </a:r>
            <a:r>
              <a:rPr lang="en-US" b="1" dirty="0"/>
              <a:t> </a:t>
            </a:r>
            <a:r>
              <a:rPr lang="en-US" b="1" dirty="0" err="1"/>
              <a:t>màn</a:t>
            </a:r>
            <a:r>
              <a:rPr lang="en-US" b="1" dirty="0"/>
              <a:t> </a:t>
            </a:r>
            <a:r>
              <a:rPr lang="en-US" b="1" dirty="0" err="1"/>
              <a:t>hình</a:t>
            </a:r>
            <a:r>
              <a:rPr lang="en-US" b="1" dirty="0"/>
              <a:t>)</a:t>
            </a:r>
            <a:endParaRPr lang="en-US" b="1" dirty="0">
              <a:ea typeface="Calibri"/>
              <a:cs typeface="Calibri"/>
            </a:endParaRPr>
          </a:p>
          <a:p>
            <a:r>
              <a:rPr lang="en-US" dirty="0"/>
              <a:t>Khi </a:t>
            </a:r>
            <a:r>
              <a:rPr lang="en-US" dirty="0" err="1"/>
              <a:t>bố</a:t>
            </a:r>
            <a:r>
              <a:rPr lang="en-US" dirty="0"/>
              <a:t> </a:t>
            </a:r>
            <a:r>
              <a:rPr lang="en-US" dirty="0" err="1"/>
              <a:t>cục</a:t>
            </a:r>
            <a:r>
              <a:rPr lang="en-US" dirty="0"/>
              <a:t> </a:t>
            </a:r>
            <a:r>
              <a:rPr lang="en-US" dirty="0" err="1"/>
              <a:t>đã</a:t>
            </a:r>
            <a:r>
              <a:rPr lang="en-US" dirty="0"/>
              <a:t> </a:t>
            </a:r>
            <a:r>
              <a:rPr lang="en-US" dirty="0" err="1"/>
              <a:t>được</a:t>
            </a:r>
            <a:r>
              <a:rPr lang="en-US" dirty="0"/>
              <a:t> </a:t>
            </a:r>
            <a:r>
              <a:rPr lang="en-US" dirty="0" err="1"/>
              <a:t>chốt</a:t>
            </a:r>
            <a:r>
              <a:rPr lang="en-US" dirty="0"/>
              <a:t>, </a:t>
            </a:r>
            <a:r>
              <a:rPr lang="en-US" dirty="0" err="1"/>
              <a:t>quá</a:t>
            </a:r>
            <a:r>
              <a:rPr lang="en-US" dirty="0"/>
              <a:t> </a:t>
            </a:r>
            <a:r>
              <a:rPr lang="en-US" dirty="0" err="1"/>
              <a:t>trình</a:t>
            </a:r>
            <a:r>
              <a:rPr lang="en-US" dirty="0"/>
              <a:t> </a:t>
            </a:r>
            <a:r>
              <a:rPr lang="en-US" dirty="0" err="1"/>
              <a:t>vẽ</a:t>
            </a:r>
            <a:r>
              <a:rPr lang="en-US" dirty="0"/>
              <a:t> </a:t>
            </a:r>
            <a:r>
              <a:rPr lang="en-US" dirty="0" err="1"/>
              <a:t>các</a:t>
            </a:r>
            <a:r>
              <a:rPr lang="en-US" dirty="0"/>
              <a:t> pixel </a:t>
            </a:r>
            <a:r>
              <a:rPr lang="en-US" dirty="0" err="1"/>
              <a:t>cụ</a:t>
            </a:r>
            <a:r>
              <a:rPr lang="en-US" dirty="0"/>
              <a:t> </a:t>
            </a:r>
            <a:r>
              <a:rPr lang="en-US" dirty="0" err="1"/>
              <a:t>thể</a:t>
            </a:r>
            <a:r>
              <a:rPr lang="en-US" dirty="0"/>
              <a:t> </a:t>
            </a:r>
            <a:r>
              <a:rPr lang="en-US" dirty="0" err="1"/>
              <a:t>được</a:t>
            </a:r>
            <a:r>
              <a:rPr lang="en-US" dirty="0"/>
              <a:t> </a:t>
            </a:r>
            <a:r>
              <a:rPr lang="en-US" dirty="0" err="1"/>
              <a:t>diễn</a:t>
            </a:r>
            <a:r>
              <a:rPr lang="en-US" dirty="0"/>
              <a:t> </a:t>
            </a:r>
            <a:r>
              <a:rPr lang="en-US" dirty="0" err="1"/>
              <a:t>ra</a:t>
            </a:r>
            <a:r>
              <a:rPr lang="en-US" dirty="0"/>
              <a:t>:</a:t>
            </a:r>
            <a:endParaRPr lang="en-US" dirty="0">
              <a:ea typeface="Calibri"/>
              <a:cs typeface="Calibri"/>
            </a:endParaRPr>
          </a:p>
          <a:p>
            <a:r>
              <a:rPr lang="en-US" dirty="0"/>
              <a:t> </a:t>
            </a:r>
            <a:endParaRPr lang="en-US" dirty="0">
              <a:ea typeface="Calibri"/>
              <a:cs typeface="Calibri"/>
            </a:endParaRPr>
          </a:p>
          <a:p>
            <a:r>
              <a:rPr lang="en-US" dirty="0"/>
              <a:t>a. </a:t>
            </a:r>
            <a:r>
              <a:rPr lang="en-US" dirty="0" err="1"/>
              <a:t>Chuyển</a:t>
            </a:r>
            <a:r>
              <a:rPr lang="en-US" dirty="0"/>
              <a:t> XAML tree sang Composition Visual tree</a:t>
            </a:r>
            <a:endParaRPr lang="en-US" dirty="0">
              <a:ea typeface="Calibri"/>
              <a:cs typeface="Calibri"/>
            </a:endParaRPr>
          </a:p>
          <a:p>
            <a:r>
              <a:rPr lang="en-US" dirty="0"/>
              <a:t>WinUI3 ko </a:t>
            </a:r>
            <a:r>
              <a:rPr lang="en-US" dirty="0" err="1"/>
              <a:t>tự</a:t>
            </a:r>
            <a:r>
              <a:rPr lang="en-US" dirty="0"/>
              <a:t> </a:t>
            </a:r>
            <a:r>
              <a:rPr lang="en-US" dirty="0" err="1"/>
              <a:t>vẽ</a:t>
            </a:r>
            <a:r>
              <a:rPr lang="en-US" dirty="0"/>
              <a:t> </a:t>
            </a:r>
            <a:r>
              <a:rPr lang="en-US" dirty="0" err="1"/>
              <a:t>mà</a:t>
            </a:r>
            <a:r>
              <a:rPr lang="en-US" dirty="0"/>
              <a:t> </a:t>
            </a:r>
            <a:r>
              <a:rPr lang="en-US" dirty="0" err="1"/>
              <a:t>ánh</a:t>
            </a:r>
            <a:r>
              <a:rPr lang="en-US" dirty="0"/>
              <a:t> </a:t>
            </a:r>
            <a:r>
              <a:rPr lang="en-US" dirty="0" err="1"/>
              <a:t>xạ</a:t>
            </a:r>
            <a:r>
              <a:rPr lang="en-US" dirty="0"/>
              <a:t> </a:t>
            </a:r>
            <a:r>
              <a:rPr lang="en-US" dirty="0" err="1"/>
              <a:t>các</a:t>
            </a:r>
            <a:r>
              <a:rPr lang="en-US" dirty="0"/>
              <a:t> </a:t>
            </a:r>
            <a:r>
              <a:rPr lang="en-US" dirty="0" err="1"/>
              <a:t>phần</a:t>
            </a:r>
            <a:r>
              <a:rPr lang="en-US" dirty="0"/>
              <a:t> </a:t>
            </a:r>
            <a:r>
              <a:rPr lang="en-US" dirty="0" err="1"/>
              <a:t>tử</a:t>
            </a:r>
            <a:r>
              <a:rPr lang="en-US" dirty="0"/>
              <a:t> UI </a:t>
            </a:r>
            <a:r>
              <a:rPr lang="en-US" dirty="0" err="1"/>
              <a:t>này</a:t>
            </a:r>
            <a:r>
              <a:rPr lang="en-US" dirty="0"/>
              <a:t> sang </a:t>
            </a:r>
            <a:r>
              <a:rPr lang="en-US" dirty="0" err="1"/>
              <a:t>lớp</a:t>
            </a:r>
            <a:r>
              <a:rPr lang="en-US" dirty="0"/>
              <a:t> Visual Layer (</a:t>
            </a:r>
            <a:r>
              <a:rPr lang="en-US" dirty="0" err="1"/>
              <a:t>thuộc</a:t>
            </a:r>
            <a:r>
              <a:rPr lang="en-US" dirty="0"/>
              <a:t> namespace </a:t>
            </a:r>
            <a:r>
              <a:rPr lang="en-US" dirty="0" err="1"/>
              <a:t>Microsoft.UI.Composition</a:t>
            </a:r>
            <a:r>
              <a:rPr lang="en-US" dirty="0"/>
              <a:t>)</a:t>
            </a:r>
            <a:endParaRPr lang="en-US" dirty="0">
              <a:ea typeface="Calibri"/>
              <a:cs typeface="Calibri"/>
            </a:endParaRPr>
          </a:p>
          <a:p>
            <a:r>
              <a:rPr lang="en-US" dirty="0" err="1"/>
              <a:t>Toàn</a:t>
            </a:r>
            <a:r>
              <a:rPr lang="en-US" dirty="0"/>
              <a:t> </a:t>
            </a:r>
            <a:r>
              <a:rPr lang="en-US" dirty="0" err="1"/>
              <a:t>bộ</a:t>
            </a:r>
            <a:r>
              <a:rPr lang="en-US" dirty="0"/>
              <a:t> </a:t>
            </a:r>
            <a:r>
              <a:rPr lang="en-US" dirty="0" err="1"/>
              <a:t>cấu</a:t>
            </a:r>
            <a:r>
              <a:rPr lang="en-US" dirty="0"/>
              <a:t> </a:t>
            </a:r>
            <a:r>
              <a:rPr lang="en-US" dirty="0" err="1"/>
              <a:t>trúc</a:t>
            </a:r>
            <a:r>
              <a:rPr lang="en-US" dirty="0"/>
              <a:t> </a:t>
            </a:r>
            <a:r>
              <a:rPr lang="en-US" dirty="0" err="1"/>
              <a:t>cây</a:t>
            </a:r>
            <a:r>
              <a:rPr lang="en-US" dirty="0"/>
              <a:t> XAML </a:t>
            </a:r>
            <a:r>
              <a:rPr lang="en-US" dirty="0" err="1"/>
              <a:t>biến</a:t>
            </a:r>
            <a:r>
              <a:rPr lang="en-US" dirty="0"/>
              <a:t> </a:t>
            </a:r>
            <a:r>
              <a:rPr lang="en-US" dirty="0" err="1"/>
              <a:t>thành</a:t>
            </a:r>
            <a:r>
              <a:rPr lang="en-US" dirty="0"/>
              <a:t> Composition Visual Tree (</a:t>
            </a:r>
            <a:r>
              <a:rPr lang="en-US" dirty="0" err="1"/>
              <a:t>gọn</a:t>
            </a:r>
            <a:r>
              <a:rPr lang="en-US" dirty="0"/>
              <a:t> </a:t>
            </a:r>
            <a:r>
              <a:rPr lang="en-US" dirty="0" err="1"/>
              <a:t>nhẹ</a:t>
            </a:r>
            <a:r>
              <a:rPr lang="en-US" dirty="0"/>
              <a:t>, </a:t>
            </a:r>
            <a:r>
              <a:rPr lang="en-US" dirty="0" err="1"/>
              <a:t>chỉ</a:t>
            </a:r>
            <a:r>
              <a:rPr lang="en-US" dirty="0"/>
              <a:t> </a:t>
            </a:r>
            <a:r>
              <a:rPr lang="en-US" dirty="0" err="1"/>
              <a:t>thuần</a:t>
            </a:r>
            <a:r>
              <a:rPr lang="en-US" dirty="0"/>
              <a:t> </a:t>
            </a:r>
            <a:r>
              <a:rPr lang="en-US" dirty="0" err="1"/>
              <a:t>túy</a:t>
            </a:r>
            <a:r>
              <a:rPr lang="en-US" dirty="0"/>
              <a:t> </a:t>
            </a:r>
            <a:r>
              <a:rPr lang="en-US" dirty="0" err="1"/>
              <a:t>chứa</a:t>
            </a:r>
            <a:r>
              <a:rPr lang="en-US" dirty="0"/>
              <a:t> </a:t>
            </a:r>
            <a:r>
              <a:rPr lang="en-US" dirty="0" err="1"/>
              <a:t>thông</a:t>
            </a:r>
            <a:r>
              <a:rPr lang="en-US" dirty="0"/>
              <a:t> tin </a:t>
            </a:r>
            <a:r>
              <a:rPr lang="en-US" dirty="0" err="1"/>
              <a:t>đồ</a:t>
            </a:r>
            <a:r>
              <a:rPr lang="en-US" dirty="0"/>
              <a:t> </a:t>
            </a:r>
            <a:r>
              <a:rPr lang="en-US" dirty="0" err="1"/>
              <a:t>họa</a:t>
            </a:r>
            <a:r>
              <a:rPr lang="en-US" dirty="0"/>
              <a:t> </a:t>
            </a:r>
            <a:r>
              <a:rPr lang="en-US" dirty="0" err="1"/>
              <a:t>như</a:t>
            </a:r>
            <a:r>
              <a:rPr lang="en-US" dirty="0"/>
              <a:t>: </a:t>
            </a:r>
            <a:r>
              <a:rPr lang="en-US" dirty="0" err="1"/>
              <a:t>tọa</a:t>
            </a:r>
            <a:r>
              <a:rPr lang="en-US" dirty="0"/>
              <a:t> </a:t>
            </a:r>
            <a:r>
              <a:rPr lang="en-US" dirty="0" err="1"/>
              <a:t>độ</a:t>
            </a:r>
            <a:r>
              <a:rPr lang="en-US" dirty="0"/>
              <a:t>, </a:t>
            </a:r>
            <a:r>
              <a:rPr lang="en-US" dirty="0" err="1"/>
              <a:t>kích</a:t>
            </a:r>
            <a:r>
              <a:rPr lang="en-US" dirty="0"/>
              <a:t> </a:t>
            </a:r>
            <a:r>
              <a:rPr lang="en-US" dirty="0" err="1"/>
              <a:t>thước</a:t>
            </a:r>
            <a:r>
              <a:rPr lang="en-US" dirty="0"/>
              <a:t>, opacity, </a:t>
            </a:r>
            <a:r>
              <a:rPr lang="en-US" dirty="0" err="1"/>
              <a:t>các</a:t>
            </a:r>
            <a:r>
              <a:rPr lang="en-US" dirty="0"/>
              <a:t> </a:t>
            </a:r>
            <a:r>
              <a:rPr lang="en-US" dirty="0" err="1"/>
              <a:t>hiệu</a:t>
            </a:r>
            <a:r>
              <a:rPr lang="en-US" dirty="0"/>
              <a:t> </a:t>
            </a:r>
            <a:r>
              <a:rPr lang="en-US" dirty="0" err="1"/>
              <a:t>ứng</a:t>
            </a:r>
            <a:r>
              <a:rPr lang="en-US" dirty="0"/>
              <a:t> </a:t>
            </a:r>
            <a:r>
              <a:rPr lang="en-US" dirty="0" err="1"/>
              <a:t>tranform</a:t>
            </a:r>
            <a:r>
              <a:rPr lang="en-US" dirty="0"/>
              <a:t>)</a:t>
            </a:r>
            <a:endParaRPr lang="en-US" dirty="0">
              <a:ea typeface="Calibri"/>
              <a:cs typeface="Calibri"/>
            </a:endParaRPr>
          </a:p>
          <a:p>
            <a:r>
              <a:rPr lang="en-US" dirty="0"/>
              <a:t> </a:t>
            </a:r>
            <a:endParaRPr lang="en-US" dirty="0">
              <a:ea typeface="Calibri"/>
              <a:cs typeface="Calibri"/>
            </a:endParaRPr>
          </a:p>
          <a:p>
            <a:r>
              <a:rPr lang="en-US" dirty="0"/>
              <a:t>b. Render Commands Generation (</a:t>
            </a:r>
            <a:r>
              <a:rPr lang="en-US" dirty="0" err="1"/>
              <a:t>đóng</a:t>
            </a:r>
            <a:r>
              <a:rPr lang="en-US" dirty="0"/>
              <a:t> </a:t>
            </a:r>
            <a:r>
              <a:rPr lang="en-US" dirty="0" err="1"/>
              <a:t>gói</a:t>
            </a:r>
            <a:r>
              <a:rPr lang="en-US" dirty="0"/>
              <a:t> </a:t>
            </a:r>
            <a:r>
              <a:rPr lang="en-US" dirty="0" err="1"/>
              <a:t>lệnh</a:t>
            </a:r>
            <a:r>
              <a:rPr lang="en-US" dirty="0"/>
              <a:t> </a:t>
            </a:r>
            <a:r>
              <a:rPr lang="en-US" dirty="0" err="1"/>
              <a:t>vẽ</a:t>
            </a:r>
            <a:r>
              <a:rPr lang="en-US" dirty="0"/>
              <a:t>)</a:t>
            </a:r>
            <a:endParaRPr lang="en-US" dirty="0">
              <a:ea typeface="Calibri"/>
              <a:cs typeface="Calibri"/>
            </a:endParaRPr>
          </a:p>
          <a:p>
            <a:r>
              <a:rPr lang="en-US" dirty="0" err="1"/>
              <a:t>Hệ</a:t>
            </a:r>
            <a:r>
              <a:rPr lang="en-US" dirty="0"/>
              <a:t> </a:t>
            </a:r>
            <a:r>
              <a:rPr lang="en-US" dirty="0" err="1"/>
              <a:t>thống</a:t>
            </a:r>
            <a:r>
              <a:rPr lang="en-US" dirty="0"/>
              <a:t> </a:t>
            </a:r>
            <a:r>
              <a:rPr lang="en-US" dirty="0" err="1"/>
              <a:t>đồ</a:t>
            </a:r>
            <a:r>
              <a:rPr lang="en-US" dirty="0"/>
              <a:t> </a:t>
            </a:r>
            <a:r>
              <a:rPr lang="en-US" dirty="0" err="1"/>
              <a:t>họa</a:t>
            </a:r>
            <a:r>
              <a:rPr lang="en-US" dirty="0"/>
              <a:t> </a:t>
            </a:r>
            <a:r>
              <a:rPr lang="en-US" dirty="0" err="1"/>
              <a:t>nội</a:t>
            </a:r>
            <a:r>
              <a:rPr lang="en-US" dirty="0"/>
              <a:t> </a:t>
            </a:r>
            <a:r>
              <a:rPr lang="en-US" dirty="0" err="1"/>
              <a:t>bộ</a:t>
            </a:r>
            <a:r>
              <a:rPr lang="en-US" dirty="0"/>
              <a:t> </a:t>
            </a:r>
            <a:r>
              <a:rPr lang="en-US" dirty="0" err="1"/>
              <a:t>của</a:t>
            </a:r>
            <a:r>
              <a:rPr lang="en-US" dirty="0"/>
              <a:t> WinUI3 </a:t>
            </a:r>
            <a:r>
              <a:rPr lang="en-US" dirty="0" err="1"/>
              <a:t>sẽ</a:t>
            </a:r>
            <a:r>
              <a:rPr lang="en-US" dirty="0"/>
              <a:t> </a:t>
            </a:r>
            <a:r>
              <a:rPr lang="en-US" dirty="0" err="1"/>
              <a:t>duyệt</a:t>
            </a:r>
            <a:r>
              <a:rPr lang="en-US" dirty="0"/>
              <a:t> qua </a:t>
            </a:r>
            <a:r>
              <a:rPr lang="en-US" dirty="0" err="1"/>
              <a:t>cây</a:t>
            </a:r>
            <a:r>
              <a:rPr lang="en-US" dirty="0"/>
              <a:t> Visual tree </a:t>
            </a:r>
            <a:r>
              <a:rPr lang="en-US" dirty="0" err="1"/>
              <a:t>vừa</a:t>
            </a:r>
            <a:r>
              <a:rPr lang="en-US" dirty="0"/>
              <a:t> </a:t>
            </a:r>
            <a:r>
              <a:rPr lang="en-US" dirty="0" err="1"/>
              <a:t>tạo</a:t>
            </a:r>
            <a:r>
              <a:rPr lang="en-US" dirty="0"/>
              <a:t> </a:t>
            </a:r>
            <a:r>
              <a:rPr lang="en-US" dirty="0" err="1"/>
              <a:t>để</a:t>
            </a:r>
            <a:r>
              <a:rPr lang="en-US" dirty="0"/>
              <a:t> </a:t>
            </a:r>
            <a:r>
              <a:rPr lang="en-US" dirty="0" err="1"/>
              <a:t>dịch</a:t>
            </a:r>
            <a:r>
              <a:rPr lang="en-US" dirty="0"/>
              <a:t> </a:t>
            </a:r>
            <a:r>
              <a:rPr lang="en-US" dirty="0" err="1"/>
              <a:t>các</a:t>
            </a:r>
            <a:r>
              <a:rPr lang="en-US" dirty="0"/>
              <a:t> </a:t>
            </a:r>
            <a:r>
              <a:rPr lang="en-US" dirty="0" err="1"/>
              <a:t>thuộc</a:t>
            </a:r>
            <a:r>
              <a:rPr lang="en-US" dirty="0"/>
              <a:t> </a:t>
            </a:r>
            <a:r>
              <a:rPr lang="en-US" dirty="0" err="1"/>
              <a:t>tính</a:t>
            </a:r>
            <a:r>
              <a:rPr lang="en-US" dirty="0"/>
              <a:t> </a:t>
            </a:r>
            <a:r>
              <a:rPr lang="en-US" dirty="0" err="1"/>
              <a:t>trực</a:t>
            </a:r>
            <a:r>
              <a:rPr lang="en-US" dirty="0"/>
              <a:t> </a:t>
            </a:r>
            <a:r>
              <a:rPr lang="en-US" dirty="0" err="1"/>
              <a:t>quan</a:t>
            </a:r>
            <a:r>
              <a:rPr lang="en-US" dirty="0"/>
              <a:t> </a:t>
            </a:r>
            <a:r>
              <a:rPr lang="en-US" dirty="0" err="1"/>
              <a:t>thành</a:t>
            </a:r>
            <a:r>
              <a:rPr lang="en-US" dirty="0"/>
              <a:t> </a:t>
            </a:r>
            <a:r>
              <a:rPr lang="en-US" dirty="0" err="1"/>
              <a:t>các</a:t>
            </a:r>
            <a:r>
              <a:rPr lang="en-US" dirty="0"/>
              <a:t> </a:t>
            </a:r>
            <a:r>
              <a:rPr lang="en-US" dirty="0" err="1"/>
              <a:t>tập</a:t>
            </a:r>
            <a:r>
              <a:rPr lang="en-US" dirty="0"/>
              <a:t> </a:t>
            </a:r>
            <a:r>
              <a:rPr lang="en-US" dirty="0" err="1"/>
              <a:t>lệnh</a:t>
            </a:r>
            <a:r>
              <a:rPr lang="en-US" dirty="0"/>
              <a:t> </a:t>
            </a:r>
            <a:r>
              <a:rPr lang="en-US" dirty="0" err="1"/>
              <a:t>để</a:t>
            </a:r>
            <a:r>
              <a:rPr lang="en-US" dirty="0"/>
              <a:t> </a:t>
            </a:r>
            <a:r>
              <a:rPr lang="en-US" dirty="0" err="1"/>
              <a:t>vẽ</a:t>
            </a:r>
            <a:r>
              <a:rPr lang="en-US" dirty="0"/>
              <a:t>.</a:t>
            </a:r>
            <a:endParaRPr lang="en-US" dirty="0">
              <a:ea typeface="Calibri"/>
              <a:cs typeface="Calibri"/>
            </a:endParaRPr>
          </a:p>
          <a:p>
            <a:r>
              <a:rPr lang="en-US" dirty="0" err="1"/>
              <a:t>Tất</a:t>
            </a:r>
            <a:r>
              <a:rPr lang="en-US" dirty="0"/>
              <a:t> </a:t>
            </a:r>
            <a:r>
              <a:rPr lang="en-US" dirty="0" err="1"/>
              <a:t>cả</a:t>
            </a:r>
            <a:r>
              <a:rPr lang="en-US" dirty="0"/>
              <a:t> </a:t>
            </a:r>
            <a:r>
              <a:rPr lang="en-US" dirty="0" err="1"/>
              <a:t>các</a:t>
            </a:r>
            <a:r>
              <a:rPr lang="en-US" dirty="0"/>
              <a:t> </a:t>
            </a:r>
            <a:r>
              <a:rPr lang="en-US" dirty="0" err="1"/>
              <a:t>lệnh</a:t>
            </a:r>
            <a:r>
              <a:rPr lang="en-US" dirty="0"/>
              <a:t> </a:t>
            </a:r>
            <a:r>
              <a:rPr lang="en-US" dirty="0" err="1"/>
              <a:t>đồ</a:t>
            </a:r>
            <a:r>
              <a:rPr lang="en-US" dirty="0"/>
              <a:t> </a:t>
            </a:r>
            <a:r>
              <a:rPr lang="en-US" dirty="0" err="1"/>
              <a:t>họa</a:t>
            </a:r>
            <a:r>
              <a:rPr lang="en-US" dirty="0"/>
              <a:t> </a:t>
            </a:r>
            <a:r>
              <a:rPr lang="en-US" dirty="0" err="1"/>
              <a:t>này</a:t>
            </a:r>
            <a:r>
              <a:rPr lang="en-US" dirty="0"/>
              <a:t> </a:t>
            </a:r>
            <a:r>
              <a:rPr lang="en-US" dirty="0" err="1"/>
              <a:t>được</a:t>
            </a:r>
            <a:r>
              <a:rPr lang="en-US" dirty="0"/>
              <a:t> </a:t>
            </a:r>
            <a:r>
              <a:rPr lang="en-US" dirty="0" err="1"/>
              <a:t>đóng</a:t>
            </a:r>
            <a:r>
              <a:rPr lang="en-US" dirty="0"/>
              <a:t> </a:t>
            </a:r>
            <a:r>
              <a:rPr lang="en-US" dirty="0" err="1"/>
              <a:t>gói</a:t>
            </a:r>
            <a:r>
              <a:rPr lang="en-US" dirty="0"/>
              <a:t> </a:t>
            </a:r>
            <a:r>
              <a:rPr lang="en-US" dirty="0" err="1"/>
              <a:t>thành</a:t>
            </a:r>
            <a:r>
              <a:rPr lang="en-US" dirty="0"/>
              <a:t> </a:t>
            </a:r>
            <a:r>
              <a:rPr lang="en-US" dirty="0" err="1"/>
              <a:t>directX</a:t>
            </a:r>
            <a:r>
              <a:rPr lang="en-US" dirty="0"/>
              <a:t> 12 Command lists</a:t>
            </a:r>
            <a:endParaRPr lang="en-US" dirty="0">
              <a:ea typeface="Calibri"/>
              <a:cs typeface="Calibri"/>
            </a:endParaRPr>
          </a:p>
          <a:p>
            <a:r>
              <a:rPr lang="en-US" dirty="0"/>
              <a:t> </a:t>
            </a:r>
            <a:endParaRPr lang="en-US" dirty="0">
              <a:ea typeface="Calibri"/>
              <a:cs typeface="Calibri"/>
            </a:endParaRPr>
          </a:p>
          <a:p>
            <a:r>
              <a:rPr lang="en-US" dirty="0"/>
              <a:t>c. Render Thread &amp; GPU (</a:t>
            </a:r>
            <a:r>
              <a:rPr lang="en-US" dirty="0" err="1"/>
              <a:t>bàn</a:t>
            </a:r>
            <a:r>
              <a:rPr lang="en-US" dirty="0"/>
              <a:t> </a:t>
            </a:r>
            <a:r>
              <a:rPr lang="en-US" dirty="0" err="1"/>
              <a:t>giao</a:t>
            </a:r>
            <a:r>
              <a:rPr lang="en-US" dirty="0"/>
              <a:t> </a:t>
            </a:r>
            <a:r>
              <a:rPr lang="en-US" dirty="0" err="1"/>
              <a:t>luồng</a:t>
            </a:r>
            <a:r>
              <a:rPr lang="en-US" dirty="0"/>
              <a:t> </a:t>
            </a:r>
            <a:r>
              <a:rPr lang="en-US" dirty="0" err="1"/>
              <a:t>và</a:t>
            </a:r>
            <a:r>
              <a:rPr lang="en-US" dirty="0"/>
              <a:t> </a:t>
            </a:r>
            <a:r>
              <a:rPr lang="en-US" dirty="0" err="1"/>
              <a:t>tăng</a:t>
            </a:r>
            <a:r>
              <a:rPr lang="en-US" dirty="0"/>
              <a:t> </a:t>
            </a:r>
            <a:r>
              <a:rPr lang="en-US" dirty="0" err="1"/>
              <a:t>tốc</a:t>
            </a:r>
            <a:r>
              <a:rPr lang="en-US" dirty="0"/>
              <a:t> </a:t>
            </a:r>
            <a:r>
              <a:rPr lang="en-US" dirty="0" err="1"/>
              <a:t>phần</a:t>
            </a:r>
            <a:r>
              <a:rPr lang="en-US" dirty="0"/>
              <a:t> </a:t>
            </a:r>
            <a:r>
              <a:rPr lang="en-US" dirty="0" err="1"/>
              <a:t>cứng</a:t>
            </a:r>
            <a:r>
              <a:rPr lang="en-US" dirty="0"/>
              <a:t>)</a:t>
            </a:r>
            <a:endParaRPr lang="en-US" dirty="0">
              <a:ea typeface="Calibri"/>
              <a:cs typeface="Calibri"/>
            </a:endParaRPr>
          </a:p>
          <a:p>
            <a:r>
              <a:rPr lang="en-US" dirty="0"/>
              <a:t>Sau </a:t>
            </a:r>
            <a:r>
              <a:rPr lang="en-US" dirty="0" err="1"/>
              <a:t>khi</a:t>
            </a:r>
            <a:r>
              <a:rPr lang="en-US" dirty="0"/>
              <a:t> </a:t>
            </a:r>
            <a:r>
              <a:rPr lang="en-US" dirty="0" err="1"/>
              <a:t>đóng</a:t>
            </a:r>
            <a:r>
              <a:rPr lang="en-US" dirty="0"/>
              <a:t> </a:t>
            </a:r>
            <a:r>
              <a:rPr lang="en-US" dirty="0" err="1"/>
              <a:t>gói</a:t>
            </a:r>
            <a:r>
              <a:rPr lang="en-US" dirty="0"/>
              <a:t>, </a:t>
            </a:r>
            <a:r>
              <a:rPr lang="en-US" dirty="0" err="1"/>
              <a:t>các</a:t>
            </a:r>
            <a:r>
              <a:rPr lang="en-US" dirty="0"/>
              <a:t> Command Lists </a:t>
            </a:r>
            <a:r>
              <a:rPr lang="en-US" dirty="0" err="1"/>
              <a:t>này</a:t>
            </a:r>
            <a:r>
              <a:rPr lang="en-US" dirty="0"/>
              <a:t> </a:t>
            </a:r>
            <a:r>
              <a:rPr lang="en-US" dirty="0" err="1"/>
              <a:t>được</a:t>
            </a:r>
            <a:r>
              <a:rPr lang="en-US" dirty="0"/>
              <a:t> </a:t>
            </a:r>
            <a:r>
              <a:rPr lang="en-US" dirty="0" err="1"/>
              <a:t>đảy</a:t>
            </a:r>
            <a:r>
              <a:rPr lang="en-US" dirty="0"/>
              <a:t> </a:t>
            </a:r>
            <a:r>
              <a:rPr lang="en-US" dirty="0" err="1"/>
              <a:t>từ</a:t>
            </a:r>
            <a:r>
              <a:rPr lang="en-US" dirty="0"/>
              <a:t> UI Thread sang 1 </a:t>
            </a:r>
            <a:r>
              <a:rPr lang="en-US" dirty="0" err="1"/>
              <a:t>luồng</a:t>
            </a:r>
            <a:r>
              <a:rPr lang="en-US" dirty="0"/>
              <a:t> </a:t>
            </a:r>
            <a:r>
              <a:rPr lang="en-US" dirty="0" err="1"/>
              <a:t>độc</a:t>
            </a:r>
            <a:r>
              <a:rPr lang="en-US" dirty="0"/>
              <a:t> </a:t>
            </a:r>
            <a:r>
              <a:rPr lang="en-US" dirty="0" err="1"/>
              <a:t>lập</a:t>
            </a:r>
            <a:r>
              <a:rPr lang="en-US" dirty="0"/>
              <a:t> </a:t>
            </a:r>
            <a:r>
              <a:rPr lang="en-US" dirty="0" err="1"/>
              <a:t>là</a:t>
            </a:r>
            <a:r>
              <a:rPr lang="en-US" dirty="0"/>
              <a:t> Render Thread (hay Composition Thread)</a:t>
            </a:r>
            <a:endParaRPr lang="en-US" dirty="0">
              <a:ea typeface="Calibri"/>
              <a:cs typeface="Calibri"/>
            </a:endParaRPr>
          </a:p>
          <a:p>
            <a:r>
              <a:rPr lang="en-US" dirty="0"/>
              <a:t>Render Thread </a:t>
            </a:r>
            <a:r>
              <a:rPr lang="en-US" dirty="0" err="1"/>
              <a:t>chạy</a:t>
            </a:r>
            <a:r>
              <a:rPr lang="en-US" dirty="0"/>
              <a:t> </a:t>
            </a:r>
            <a:r>
              <a:rPr lang="en-US" dirty="0" err="1"/>
              <a:t>tách</a:t>
            </a:r>
            <a:r>
              <a:rPr lang="en-US" dirty="0"/>
              <a:t> </a:t>
            </a:r>
            <a:r>
              <a:rPr lang="en-US" dirty="0" err="1"/>
              <a:t>biệt</a:t>
            </a:r>
            <a:r>
              <a:rPr lang="en-US" dirty="0"/>
              <a:t>, </a:t>
            </a:r>
            <a:r>
              <a:rPr lang="en-US" dirty="0" err="1"/>
              <a:t>chịu</a:t>
            </a:r>
            <a:r>
              <a:rPr lang="en-US" dirty="0"/>
              <a:t> </a:t>
            </a:r>
            <a:r>
              <a:rPr lang="en-US" dirty="0" err="1"/>
              <a:t>trách</a:t>
            </a:r>
            <a:r>
              <a:rPr lang="en-US" dirty="0"/>
              <a:t> </a:t>
            </a:r>
            <a:r>
              <a:rPr lang="en-US" dirty="0" err="1"/>
              <a:t>nhiệm</a:t>
            </a:r>
            <a:r>
              <a:rPr lang="en-US" dirty="0"/>
              <a:t> </a:t>
            </a:r>
            <a:r>
              <a:rPr lang="en-US" dirty="0" err="1"/>
              <a:t>giao</a:t>
            </a:r>
            <a:r>
              <a:rPr lang="en-US" dirty="0"/>
              <a:t> </a:t>
            </a:r>
            <a:r>
              <a:rPr lang="en-US" dirty="0" err="1"/>
              <a:t>tiếp</a:t>
            </a:r>
            <a:r>
              <a:rPr lang="en-US" dirty="0"/>
              <a:t> </a:t>
            </a:r>
            <a:r>
              <a:rPr lang="en-US" dirty="0" err="1"/>
              <a:t>trực</a:t>
            </a:r>
            <a:r>
              <a:rPr lang="en-US" dirty="0"/>
              <a:t> </a:t>
            </a:r>
            <a:r>
              <a:rPr lang="en-US" dirty="0" err="1"/>
              <a:t>tiếp</a:t>
            </a:r>
            <a:r>
              <a:rPr lang="en-US" dirty="0"/>
              <a:t> </a:t>
            </a:r>
            <a:r>
              <a:rPr lang="en-US" dirty="0" err="1"/>
              <a:t>với</a:t>
            </a:r>
            <a:r>
              <a:rPr lang="en-US" dirty="0"/>
              <a:t> driver card </a:t>
            </a:r>
            <a:r>
              <a:rPr lang="en-US" dirty="0" err="1"/>
              <a:t>đồ</a:t>
            </a:r>
            <a:r>
              <a:rPr lang="en-US" dirty="0"/>
              <a:t> </a:t>
            </a:r>
            <a:r>
              <a:rPr lang="en-US" dirty="0" err="1"/>
              <a:t>họa</a:t>
            </a:r>
            <a:r>
              <a:rPr lang="en-US" dirty="0"/>
              <a:t> </a:t>
            </a:r>
            <a:r>
              <a:rPr lang="en-US" dirty="0" err="1"/>
              <a:t>thông</a:t>
            </a:r>
            <a:r>
              <a:rPr lang="en-US" dirty="0"/>
              <a:t> qua DirectX 12 API</a:t>
            </a:r>
            <a:endParaRPr lang="en-US" dirty="0">
              <a:ea typeface="Calibri"/>
              <a:cs typeface="Calibri"/>
            </a:endParaRPr>
          </a:p>
          <a:p>
            <a:r>
              <a:rPr lang="en-US" dirty="0"/>
              <a:t> </a:t>
            </a:r>
            <a:endParaRPr lang="en-US" dirty="0">
              <a:ea typeface="Calibri"/>
              <a:cs typeface="Calibri"/>
            </a:endParaRPr>
          </a:p>
          <a:p>
            <a:r>
              <a:rPr lang="en-US" dirty="0"/>
              <a:t>d. GPU Composition (</a:t>
            </a:r>
            <a:r>
              <a:rPr lang="en-US" dirty="0" err="1"/>
              <a:t>hợp</a:t>
            </a:r>
            <a:r>
              <a:rPr lang="en-US" dirty="0"/>
              <a:t> </a:t>
            </a:r>
            <a:r>
              <a:rPr lang="en-US" dirty="0" err="1"/>
              <a:t>nhất</a:t>
            </a:r>
            <a:r>
              <a:rPr lang="en-US" dirty="0"/>
              <a:t> </a:t>
            </a:r>
            <a:r>
              <a:rPr lang="en-US" dirty="0" err="1"/>
              <a:t>và</a:t>
            </a:r>
            <a:r>
              <a:rPr lang="en-US" dirty="0"/>
              <a:t> </a:t>
            </a:r>
            <a:r>
              <a:rPr lang="en-US" dirty="0" err="1"/>
              <a:t>hiển</a:t>
            </a:r>
            <a:r>
              <a:rPr lang="en-US" dirty="0"/>
              <a:t> </a:t>
            </a:r>
            <a:r>
              <a:rPr lang="en-US" dirty="0" err="1"/>
              <a:t>thị</a:t>
            </a:r>
            <a:r>
              <a:rPr lang="en-US" dirty="0"/>
              <a:t>)</a:t>
            </a:r>
            <a:endParaRPr lang="en-US" dirty="0">
              <a:ea typeface="Calibri"/>
              <a:cs typeface="Calibri"/>
            </a:endParaRPr>
          </a:p>
          <a:p>
            <a:r>
              <a:rPr lang="en-US" dirty="0"/>
              <a:t>Khi </a:t>
            </a:r>
            <a:r>
              <a:rPr lang="en-US" dirty="0" err="1"/>
              <a:t>nhận</a:t>
            </a:r>
            <a:r>
              <a:rPr lang="en-US" dirty="0"/>
              <a:t> </a:t>
            </a:r>
            <a:r>
              <a:rPr lang="en-US" dirty="0" err="1"/>
              <a:t>được</a:t>
            </a:r>
            <a:r>
              <a:rPr lang="en-US" dirty="0"/>
              <a:t> </a:t>
            </a:r>
            <a:r>
              <a:rPr lang="en-US" dirty="0" err="1"/>
              <a:t>tập</a:t>
            </a:r>
            <a:r>
              <a:rPr lang="en-US" dirty="0"/>
              <a:t> </a:t>
            </a:r>
            <a:r>
              <a:rPr lang="en-US" dirty="0" err="1"/>
              <a:t>lệnh</a:t>
            </a:r>
            <a:r>
              <a:rPr lang="en-US" dirty="0"/>
              <a:t>, GPU </a:t>
            </a:r>
            <a:r>
              <a:rPr lang="en-US" dirty="0" err="1"/>
              <a:t>chính</a:t>
            </a:r>
            <a:r>
              <a:rPr lang="en-US" dirty="0"/>
              <a:t> </a:t>
            </a:r>
            <a:r>
              <a:rPr lang="en-US" dirty="0" err="1"/>
              <a:t>thức</a:t>
            </a:r>
            <a:r>
              <a:rPr lang="en-US" dirty="0"/>
              <a:t> </a:t>
            </a:r>
            <a:r>
              <a:rPr lang="en-US" dirty="0" err="1"/>
              <a:t>vào</a:t>
            </a:r>
            <a:r>
              <a:rPr lang="en-US" dirty="0"/>
              <a:t> </a:t>
            </a:r>
            <a:r>
              <a:rPr lang="en-US" dirty="0" err="1"/>
              <a:t>cuộc</a:t>
            </a:r>
            <a:r>
              <a:rPr lang="en-US" dirty="0"/>
              <a:t>, </a:t>
            </a:r>
            <a:r>
              <a:rPr lang="en-US" dirty="0" err="1"/>
              <a:t>thực</a:t>
            </a:r>
            <a:r>
              <a:rPr lang="en-US" dirty="0"/>
              <a:t> </a:t>
            </a:r>
            <a:r>
              <a:rPr lang="en-US" dirty="0" err="1"/>
              <a:t>hiện</a:t>
            </a:r>
            <a:r>
              <a:rPr lang="en-US" dirty="0"/>
              <a:t> </a:t>
            </a:r>
            <a:r>
              <a:rPr lang="en-US" dirty="0" err="1"/>
              <a:t>tính</a:t>
            </a:r>
            <a:r>
              <a:rPr lang="en-US" dirty="0"/>
              <a:t> </a:t>
            </a:r>
            <a:r>
              <a:rPr lang="en-US" dirty="0" err="1"/>
              <a:t>toán</a:t>
            </a:r>
            <a:r>
              <a:rPr lang="en-US" dirty="0"/>
              <a:t> </a:t>
            </a:r>
            <a:r>
              <a:rPr lang="en-US" dirty="0" err="1"/>
              <a:t>rất</a:t>
            </a:r>
            <a:r>
              <a:rPr lang="en-US" dirty="0"/>
              <a:t> </a:t>
            </a:r>
            <a:r>
              <a:rPr lang="en-US" dirty="0" err="1"/>
              <a:t>nhiều</a:t>
            </a:r>
            <a:r>
              <a:rPr lang="en-US" dirty="0"/>
              <a:t> </a:t>
            </a:r>
            <a:r>
              <a:rPr lang="en-US" dirty="0" err="1"/>
              <a:t>phép</a:t>
            </a:r>
            <a:r>
              <a:rPr lang="en-US" dirty="0"/>
              <a:t> </a:t>
            </a:r>
            <a:r>
              <a:rPr lang="en-US" dirty="0" err="1"/>
              <a:t>tính</a:t>
            </a:r>
            <a:r>
              <a:rPr lang="en-US" dirty="0"/>
              <a:t> </a:t>
            </a:r>
            <a:r>
              <a:rPr lang="en-US" dirty="0" err="1"/>
              <a:t>toán</a:t>
            </a:r>
            <a:r>
              <a:rPr lang="en-US" dirty="0"/>
              <a:t> song </a:t>
            </a:r>
            <a:r>
              <a:rPr lang="en-US" dirty="0" err="1"/>
              <a:t>song</a:t>
            </a:r>
            <a:r>
              <a:rPr lang="en-US" dirty="0"/>
              <a:t> </a:t>
            </a:r>
            <a:r>
              <a:rPr lang="en-US" dirty="0" err="1"/>
              <a:t>để</a:t>
            </a:r>
            <a:r>
              <a:rPr lang="en-US" dirty="0"/>
              <a:t> </a:t>
            </a:r>
            <a:r>
              <a:rPr lang="en-US" dirty="0" err="1"/>
              <a:t>ra</a:t>
            </a:r>
            <a:r>
              <a:rPr lang="en-US" dirty="0"/>
              <a:t> </a:t>
            </a:r>
            <a:r>
              <a:rPr lang="en-US" dirty="0" err="1"/>
              <a:t>kết</a:t>
            </a:r>
            <a:r>
              <a:rPr lang="en-US" dirty="0"/>
              <a:t> </a:t>
            </a:r>
            <a:r>
              <a:rPr lang="en-US" dirty="0" err="1"/>
              <a:t>quả</a:t>
            </a:r>
            <a:r>
              <a:rPr lang="en-US" dirty="0"/>
              <a:t> </a:t>
            </a:r>
            <a:r>
              <a:rPr lang="en-US" dirty="0" err="1"/>
              <a:t>nhanh</a:t>
            </a:r>
            <a:r>
              <a:rPr lang="en-US" dirty="0"/>
              <a:t> </a:t>
            </a:r>
            <a:r>
              <a:rPr lang="en-US" dirty="0" err="1"/>
              <a:t>nhất</a:t>
            </a:r>
            <a:r>
              <a:rPr lang="en-US" dirty="0"/>
              <a:t>.</a:t>
            </a:r>
            <a:endParaRPr lang="en-US" dirty="0">
              <a:ea typeface="Calibri"/>
              <a:cs typeface="Calibri"/>
            </a:endParaRPr>
          </a:p>
          <a:p>
            <a:r>
              <a:rPr lang="en-US" dirty="0"/>
              <a:t>+ Rasterization: </a:t>
            </a:r>
            <a:r>
              <a:rPr lang="en-US" dirty="0" err="1"/>
              <a:t>Đồ</a:t>
            </a:r>
            <a:r>
              <a:rPr lang="en-US" dirty="0"/>
              <a:t> </a:t>
            </a:r>
            <a:r>
              <a:rPr lang="en-US" dirty="0" err="1"/>
              <a:t>họa</a:t>
            </a:r>
            <a:r>
              <a:rPr lang="en-US" dirty="0"/>
              <a:t> vector </a:t>
            </a:r>
            <a:r>
              <a:rPr lang="en-US" dirty="0" err="1"/>
              <a:t>và</a:t>
            </a:r>
            <a:r>
              <a:rPr lang="en-US" dirty="0"/>
              <a:t> text </a:t>
            </a:r>
            <a:r>
              <a:rPr lang="en-US" dirty="0" err="1"/>
              <a:t>được</a:t>
            </a:r>
            <a:r>
              <a:rPr lang="en-US" dirty="0"/>
              <a:t> "</a:t>
            </a:r>
            <a:r>
              <a:rPr lang="en-US" dirty="0" err="1"/>
              <a:t>số</a:t>
            </a:r>
            <a:r>
              <a:rPr lang="en-US" dirty="0"/>
              <a:t> </a:t>
            </a:r>
            <a:r>
              <a:rPr lang="en-US" dirty="0" err="1"/>
              <a:t>hóa</a:t>
            </a:r>
            <a:r>
              <a:rPr lang="en-US" dirty="0"/>
              <a:t>" </a:t>
            </a:r>
            <a:r>
              <a:rPr lang="en-US" dirty="0" err="1"/>
              <a:t>thành</a:t>
            </a:r>
            <a:r>
              <a:rPr lang="en-US" dirty="0"/>
              <a:t> </a:t>
            </a:r>
            <a:r>
              <a:rPr lang="en-US" dirty="0" err="1"/>
              <a:t>các</a:t>
            </a:r>
            <a:r>
              <a:rPr lang="en-US" dirty="0"/>
              <a:t> </a:t>
            </a:r>
            <a:r>
              <a:rPr lang="en-US" dirty="0" err="1"/>
              <a:t>lưới</a:t>
            </a:r>
            <a:r>
              <a:rPr lang="en-US" dirty="0"/>
              <a:t> pixel</a:t>
            </a:r>
            <a:endParaRPr lang="en-US" dirty="0">
              <a:ea typeface="Calibri"/>
              <a:cs typeface="Calibri"/>
            </a:endParaRPr>
          </a:p>
          <a:p>
            <a:r>
              <a:rPr lang="en-US" dirty="0"/>
              <a:t>+ Pixel Shader: </a:t>
            </a:r>
            <a:r>
              <a:rPr lang="en-US" dirty="0" err="1"/>
              <a:t>Áp</a:t>
            </a:r>
            <a:r>
              <a:rPr lang="en-US" dirty="0"/>
              <a:t> </a:t>
            </a:r>
            <a:r>
              <a:rPr lang="en-US" dirty="0" err="1"/>
              <a:t>dụng</a:t>
            </a:r>
            <a:r>
              <a:rPr lang="en-US" dirty="0"/>
              <a:t> </a:t>
            </a:r>
            <a:r>
              <a:rPr lang="en-US" dirty="0" err="1"/>
              <a:t>các</a:t>
            </a:r>
            <a:r>
              <a:rPr lang="en-US" dirty="0"/>
              <a:t> </a:t>
            </a:r>
            <a:r>
              <a:rPr lang="en-US" dirty="0" err="1"/>
              <a:t>hiệu</a:t>
            </a:r>
            <a:r>
              <a:rPr lang="en-US" dirty="0"/>
              <a:t> </a:t>
            </a:r>
            <a:r>
              <a:rPr lang="en-US" dirty="0" err="1"/>
              <a:t>ứng</a:t>
            </a:r>
            <a:r>
              <a:rPr lang="en-US" dirty="0"/>
              <a:t> </a:t>
            </a:r>
            <a:r>
              <a:rPr lang="en-US" dirty="0" err="1"/>
              <a:t>ánh</a:t>
            </a:r>
            <a:r>
              <a:rPr lang="en-US" dirty="0"/>
              <a:t> </a:t>
            </a:r>
            <a:r>
              <a:rPr lang="en-US" dirty="0" err="1"/>
              <a:t>sáng</a:t>
            </a:r>
            <a:r>
              <a:rPr lang="en-US" dirty="0"/>
              <a:t>, </a:t>
            </a:r>
            <a:r>
              <a:rPr lang="en-US" dirty="0" err="1"/>
              <a:t>đổ</a:t>
            </a:r>
            <a:r>
              <a:rPr lang="en-US" dirty="0"/>
              <a:t> </a:t>
            </a:r>
            <a:r>
              <a:rPr lang="en-US" dirty="0" err="1"/>
              <a:t>bóng</a:t>
            </a:r>
            <a:r>
              <a:rPr lang="en-US" dirty="0"/>
              <a:t>, </a:t>
            </a:r>
            <a:r>
              <a:rPr lang="en-US" dirty="0" err="1"/>
              <a:t>pha</a:t>
            </a:r>
            <a:r>
              <a:rPr lang="en-US" dirty="0"/>
              <a:t> </a:t>
            </a:r>
            <a:r>
              <a:rPr lang="en-US" dirty="0" err="1"/>
              <a:t>trộn</a:t>
            </a:r>
            <a:r>
              <a:rPr lang="en-US" dirty="0"/>
              <a:t> </a:t>
            </a:r>
            <a:r>
              <a:rPr lang="en-US" dirty="0" err="1"/>
              <a:t>màu</a:t>
            </a:r>
            <a:r>
              <a:rPr lang="en-US" dirty="0"/>
              <a:t> </a:t>
            </a:r>
            <a:r>
              <a:rPr lang="en-US" dirty="0" err="1"/>
              <a:t>sắc</a:t>
            </a:r>
            <a:r>
              <a:rPr lang="en-US" dirty="0"/>
              <a:t> (Blending) </a:t>
            </a:r>
            <a:r>
              <a:rPr lang="en-US" dirty="0" err="1"/>
              <a:t>lên</a:t>
            </a:r>
            <a:r>
              <a:rPr lang="en-US" dirty="0"/>
              <a:t> </a:t>
            </a:r>
            <a:r>
              <a:rPr lang="en-US" dirty="0" err="1"/>
              <a:t>từng</a:t>
            </a:r>
            <a:r>
              <a:rPr lang="en-US" dirty="0"/>
              <a:t> pixel</a:t>
            </a:r>
            <a:endParaRPr lang="en-US" dirty="0">
              <a:ea typeface="Calibri"/>
              <a:cs typeface="Calibri"/>
            </a:endParaRPr>
          </a:p>
          <a:p>
            <a:r>
              <a:rPr lang="en-US" dirty="0"/>
              <a:t>+ </a:t>
            </a:r>
            <a:r>
              <a:rPr lang="en-US" dirty="0" err="1"/>
              <a:t>Hợp</a:t>
            </a:r>
            <a:r>
              <a:rPr lang="en-US" dirty="0"/>
              <a:t> </a:t>
            </a:r>
            <a:r>
              <a:rPr lang="en-US" dirty="0" err="1"/>
              <a:t>nhất</a:t>
            </a:r>
            <a:r>
              <a:rPr lang="en-US" dirty="0"/>
              <a:t> (Composition): </a:t>
            </a:r>
            <a:r>
              <a:rPr lang="en-US" dirty="0" err="1"/>
              <a:t>Tất</a:t>
            </a:r>
            <a:r>
              <a:rPr lang="en-US" dirty="0"/>
              <a:t> </a:t>
            </a:r>
            <a:r>
              <a:rPr lang="en-US" dirty="0" err="1"/>
              <a:t>cả</a:t>
            </a:r>
            <a:r>
              <a:rPr lang="en-US" dirty="0"/>
              <a:t> </a:t>
            </a:r>
            <a:r>
              <a:rPr lang="en-US" dirty="0" err="1"/>
              <a:t>các</a:t>
            </a:r>
            <a:r>
              <a:rPr lang="en-US" dirty="0"/>
              <a:t> </a:t>
            </a:r>
            <a:r>
              <a:rPr lang="en-US" dirty="0" err="1"/>
              <a:t>lớp</a:t>
            </a:r>
            <a:r>
              <a:rPr lang="en-US" dirty="0"/>
              <a:t> </a:t>
            </a:r>
            <a:r>
              <a:rPr lang="en-US" dirty="0" err="1"/>
              <a:t>ảnh</a:t>
            </a:r>
            <a:r>
              <a:rPr lang="en-US" dirty="0"/>
              <a:t> (Visual Layers) </a:t>
            </a:r>
            <a:r>
              <a:rPr lang="en-US" dirty="0" err="1"/>
              <a:t>được</a:t>
            </a:r>
            <a:r>
              <a:rPr lang="en-US" dirty="0"/>
              <a:t> </a:t>
            </a:r>
            <a:r>
              <a:rPr lang="en-US" dirty="0" err="1"/>
              <a:t>đè</a:t>
            </a:r>
            <a:r>
              <a:rPr lang="en-US" dirty="0"/>
              <a:t> </a:t>
            </a:r>
            <a:r>
              <a:rPr lang="en-US" dirty="0" err="1"/>
              <a:t>và</a:t>
            </a:r>
            <a:r>
              <a:rPr lang="en-US" dirty="0"/>
              <a:t> </a:t>
            </a:r>
            <a:r>
              <a:rPr lang="en-US" dirty="0" err="1"/>
              <a:t>trộn</a:t>
            </a:r>
            <a:r>
              <a:rPr lang="en-US" dirty="0"/>
              <a:t> </a:t>
            </a:r>
            <a:r>
              <a:rPr lang="en-US" dirty="0" err="1"/>
              <a:t>lên</a:t>
            </a:r>
            <a:r>
              <a:rPr lang="en-US" dirty="0"/>
              <a:t> </a:t>
            </a:r>
            <a:r>
              <a:rPr lang="en-US" dirty="0" err="1"/>
              <a:t>nhau</a:t>
            </a:r>
            <a:r>
              <a:rPr lang="en-US" dirty="0"/>
              <a:t> </a:t>
            </a:r>
            <a:r>
              <a:rPr lang="en-US" dirty="0" err="1"/>
              <a:t>theo</a:t>
            </a:r>
            <a:r>
              <a:rPr lang="en-US" dirty="0"/>
              <a:t> </a:t>
            </a:r>
            <a:r>
              <a:rPr lang="en-US" dirty="0" err="1"/>
              <a:t>đúng</a:t>
            </a:r>
            <a:r>
              <a:rPr lang="en-US" dirty="0"/>
              <a:t> </a:t>
            </a:r>
            <a:r>
              <a:rPr lang="en-US" dirty="0" err="1"/>
              <a:t>thứ</a:t>
            </a:r>
            <a:r>
              <a:rPr lang="en-US" dirty="0"/>
              <a:t> </a:t>
            </a:r>
            <a:r>
              <a:rPr lang="en-US" dirty="0" err="1"/>
              <a:t>tự</a:t>
            </a:r>
            <a:r>
              <a:rPr lang="en-US" dirty="0"/>
              <a:t> </a:t>
            </a:r>
            <a:r>
              <a:rPr lang="en-US" dirty="0" err="1"/>
              <a:t>phân</a:t>
            </a:r>
            <a:r>
              <a:rPr lang="en-US" dirty="0"/>
              <a:t> </a:t>
            </a:r>
            <a:r>
              <a:rPr lang="en-US" dirty="0" err="1"/>
              <a:t>lớp</a:t>
            </a:r>
            <a:r>
              <a:rPr lang="en-US" dirty="0"/>
              <a:t> </a:t>
            </a:r>
            <a:r>
              <a:rPr lang="en-US" dirty="0" err="1"/>
              <a:t>để</a:t>
            </a:r>
            <a:r>
              <a:rPr lang="en-US" dirty="0"/>
              <a:t> </a:t>
            </a:r>
            <a:r>
              <a:rPr lang="en-US" dirty="0" err="1"/>
              <a:t>tạo</a:t>
            </a:r>
            <a:r>
              <a:rPr lang="en-US" dirty="0"/>
              <a:t> </a:t>
            </a:r>
            <a:r>
              <a:rPr lang="en-US" dirty="0" err="1"/>
              <a:t>ra</a:t>
            </a:r>
            <a:r>
              <a:rPr lang="en-US" dirty="0"/>
              <a:t> </a:t>
            </a:r>
            <a:r>
              <a:rPr lang="en-US" dirty="0" err="1"/>
              <a:t>một</a:t>
            </a:r>
            <a:r>
              <a:rPr lang="en-US" dirty="0"/>
              <a:t> </a:t>
            </a:r>
            <a:r>
              <a:rPr lang="en-US" dirty="0" err="1"/>
              <a:t>khung</a:t>
            </a:r>
            <a:r>
              <a:rPr lang="en-US" dirty="0"/>
              <a:t> </a:t>
            </a:r>
            <a:r>
              <a:rPr lang="en-US" dirty="0" err="1"/>
              <a:t>hình</a:t>
            </a:r>
            <a:r>
              <a:rPr lang="en-US" dirty="0"/>
              <a:t> (Frame) </a:t>
            </a:r>
            <a:r>
              <a:rPr lang="en-US" dirty="0" err="1"/>
              <a:t>hoàn</a:t>
            </a:r>
            <a:r>
              <a:rPr lang="en-US" dirty="0"/>
              <a:t> </a:t>
            </a:r>
            <a:r>
              <a:rPr lang="en-US" dirty="0" err="1"/>
              <a:t>chỉnh</a:t>
            </a:r>
            <a:r>
              <a:rPr lang="en-US" dirty="0"/>
              <a:t>.</a:t>
            </a:r>
            <a:endParaRPr lang="en-US" dirty="0">
              <a:ea typeface="Calibri"/>
              <a:cs typeface="Calibri"/>
            </a:endParaRPr>
          </a:p>
          <a:p>
            <a:r>
              <a:rPr lang="en-US" dirty="0"/>
              <a:t>+ Swap Chain Presentation: Khung </a:t>
            </a:r>
            <a:r>
              <a:rPr lang="en-US" dirty="0" err="1"/>
              <a:t>hình</a:t>
            </a:r>
            <a:r>
              <a:rPr lang="en-US" dirty="0"/>
              <a:t> </a:t>
            </a:r>
            <a:r>
              <a:rPr lang="en-US" dirty="0" err="1"/>
              <a:t>này</a:t>
            </a:r>
            <a:r>
              <a:rPr lang="en-US" dirty="0"/>
              <a:t> </a:t>
            </a:r>
            <a:r>
              <a:rPr lang="en-US" dirty="0" err="1"/>
              <a:t>được</a:t>
            </a:r>
            <a:r>
              <a:rPr lang="en-US" dirty="0"/>
              <a:t> </a:t>
            </a:r>
            <a:r>
              <a:rPr lang="en-US" dirty="0" err="1"/>
              <a:t>vẽ</a:t>
            </a:r>
            <a:r>
              <a:rPr lang="en-US" dirty="0"/>
              <a:t> </a:t>
            </a:r>
            <a:r>
              <a:rPr lang="en-US" dirty="0" err="1"/>
              <a:t>vào</a:t>
            </a:r>
            <a:r>
              <a:rPr lang="en-US" dirty="0"/>
              <a:t> </a:t>
            </a:r>
            <a:r>
              <a:rPr lang="en-US" dirty="0" err="1"/>
              <a:t>một</a:t>
            </a:r>
            <a:r>
              <a:rPr lang="en-US" dirty="0"/>
              <a:t> </a:t>
            </a:r>
            <a:r>
              <a:rPr lang="en-US" dirty="0" err="1"/>
              <a:t>bộ</a:t>
            </a:r>
            <a:r>
              <a:rPr lang="en-US" dirty="0"/>
              <a:t> </a:t>
            </a:r>
            <a:r>
              <a:rPr lang="en-US" dirty="0" err="1"/>
              <a:t>đệm</a:t>
            </a:r>
            <a:r>
              <a:rPr lang="en-US" dirty="0"/>
              <a:t> </a:t>
            </a:r>
            <a:r>
              <a:rPr lang="en-US" dirty="0" err="1"/>
              <a:t>ẩn</a:t>
            </a:r>
            <a:r>
              <a:rPr lang="en-US" dirty="0"/>
              <a:t> (Back Buffer) </a:t>
            </a:r>
            <a:r>
              <a:rPr lang="en-US" dirty="0" err="1"/>
              <a:t>rồi</a:t>
            </a:r>
            <a:r>
              <a:rPr lang="en-US" dirty="0"/>
              <a:t> </a:t>
            </a:r>
            <a:r>
              <a:rPr lang="en-US" dirty="0" err="1"/>
              <a:t>được</a:t>
            </a:r>
            <a:r>
              <a:rPr lang="en-US" dirty="0"/>
              <a:t> </a:t>
            </a:r>
            <a:r>
              <a:rPr lang="en-US" dirty="0" err="1"/>
              <a:t>hoán</a:t>
            </a:r>
            <a:r>
              <a:rPr lang="en-US" dirty="0"/>
              <a:t> </a:t>
            </a:r>
            <a:r>
              <a:rPr lang="en-US" dirty="0" err="1"/>
              <a:t>đổi</a:t>
            </a:r>
            <a:r>
              <a:rPr lang="en-US" dirty="0"/>
              <a:t> (Flip) </a:t>
            </a:r>
            <a:r>
              <a:rPr lang="en-US" dirty="0" err="1"/>
              <a:t>ra</a:t>
            </a:r>
            <a:r>
              <a:rPr lang="en-US" dirty="0"/>
              <a:t> </a:t>
            </a:r>
            <a:r>
              <a:rPr lang="en-US" dirty="0" err="1"/>
              <a:t>bộ</a:t>
            </a:r>
            <a:r>
              <a:rPr lang="en-US" dirty="0"/>
              <a:t> </a:t>
            </a:r>
            <a:r>
              <a:rPr lang="en-US" dirty="0" err="1"/>
              <a:t>đệm</a:t>
            </a:r>
            <a:r>
              <a:rPr lang="en-US" dirty="0"/>
              <a:t> </a:t>
            </a:r>
            <a:r>
              <a:rPr lang="en-US" dirty="0" err="1"/>
              <a:t>hiển</a:t>
            </a:r>
            <a:r>
              <a:rPr lang="en-US" dirty="0"/>
              <a:t> </a:t>
            </a:r>
            <a:r>
              <a:rPr lang="en-US" dirty="0" err="1"/>
              <a:t>thị</a:t>
            </a:r>
            <a:r>
              <a:rPr lang="en-US" dirty="0"/>
              <a:t> (Front Buffer).</a:t>
            </a:r>
            <a:endParaRPr lang="en-US" dirty="0">
              <a:ea typeface="Calibri"/>
              <a:cs typeface="Calibri"/>
            </a:endParaRPr>
          </a:p>
          <a:p>
            <a:r>
              <a:rPr lang="en-US" dirty="0"/>
              <a:t> </a:t>
            </a:r>
            <a:endParaRPr lang="en-US" dirty="0">
              <a:ea typeface="Calibri"/>
              <a:cs typeface="Calibri"/>
            </a:endParaRPr>
          </a:p>
          <a:p>
            <a:r>
              <a:rPr lang="en-US" dirty="0"/>
              <a:t>Cuối </a:t>
            </a:r>
            <a:r>
              <a:rPr lang="en-US" dirty="0" err="1"/>
              <a:t>cùng</a:t>
            </a:r>
            <a:r>
              <a:rPr lang="en-US" dirty="0"/>
              <a:t>, </a:t>
            </a:r>
            <a:r>
              <a:rPr lang="en-US" dirty="0" err="1"/>
              <a:t>WinUI</a:t>
            </a:r>
            <a:r>
              <a:rPr lang="en-US" dirty="0"/>
              <a:t> 3 </a:t>
            </a:r>
            <a:r>
              <a:rPr lang="en-US" dirty="0" err="1"/>
              <a:t>thông</a:t>
            </a:r>
            <a:r>
              <a:rPr lang="en-US" dirty="0"/>
              <a:t> qua </a:t>
            </a:r>
            <a:r>
              <a:rPr lang="en-US" dirty="0" err="1"/>
              <a:t>trình</a:t>
            </a:r>
            <a:r>
              <a:rPr lang="en-US" dirty="0"/>
              <a:t> </a:t>
            </a:r>
            <a:r>
              <a:rPr lang="en-US" dirty="0" err="1"/>
              <a:t>quản</a:t>
            </a:r>
            <a:r>
              <a:rPr lang="en-US" dirty="0"/>
              <a:t> </a:t>
            </a:r>
            <a:r>
              <a:rPr lang="en-US" dirty="0" err="1"/>
              <a:t>lý</a:t>
            </a:r>
            <a:r>
              <a:rPr lang="en-US" dirty="0"/>
              <a:t> </a:t>
            </a:r>
            <a:r>
              <a:rPr lang="en-US" dirty="0" err="1"/>
              <a:t>cửa</a:t>
            </a:r>
            <a:r>
              <a:rPr lang="en-US" dirty="0"/>
              <a:t> </a:t>
            </a:r>
            <a:r>
              <a:rPr lang="en-US" dirty="0" err="1"/>
              <a:t>sổ</a:t>
            </a:r>
            <a:r>
              <a:rPr lang="en-US" dirty="0"/>
              <a:t> </a:t>
            </a:r>
            <a:r>
              <a:rPr lang="en-US" dirty="0" err="1"/>
              <a:t>của</a:t>
            </a:r>
            <a:r>
              <a:rPr lang="en-US" dirty="0"/>
              <a:t> </a:t>
            </a:r>
            <a:r>
              <a:rPr lang="en-US" dirty="0" err="1"/>
              <a:t>hệ</a:t>
            </a:r>
            <a:r>
              <a:rPr lang="en-US" dirty="0"/>
              <a:t> </a:t>
            </a:r>
            <a:r>
              <a:rPr lang="en-US" dirty="0" err="1"/>
              <a:t>điều</a:t>
            </a:r>
            <a:r>
              <a:rPr lang="en-US" dirty="0"/>
              <a:t> </a:t>
            </a:r>
            <a:r>
              <a:rPr lang="en-US" dirty="0" err="1"/>
              <a:t>hành</a:t>
            </a:r>
            <a:r>
              <a:rPr lang="en-US" dirty="0"/>
              <a:t> Windows (DWM - Desktop Window Manager) </a:t>
            </a:r>
            <a:r>
              <a:rPr lang="en-US" dirty="0" err="1"/>
              <a:t>để</a:t>
            </a:r>
            <a:r>
              <a:rPr lang="en-US" dirty="0"/>
              <a:t> </a:t>
            </a:r>
            <a:r>
              <a:rPr lang="en-US" dirty="0" err="1"/>
              <a:t>ánh</a:t>
            </a:r>
            <a:r>
              <a:rPr lang="en-US" dirty="0"/>
              <a:t> </a:t>
            </a:r>
            <a:r>
              <a:rPr lang="en-US" dirty="0" err="1"/>
              <a:t>xạ</a:t>
            </a:r>
            <a:r>
              <a:rPr lang="en-US" dirty="0"/>
              <a:t> </a:t>
            </a:r>
            <a:r>
              <a:rPr lang="en-US" dirty="0" err="1"/>
              <a:t>bộ</a:t>
            </a:r>
            <a:r>
              <a:rPr lang="en-US" dirty="0"/>
              <a:t> </a:t>
            </a:r>
            <a:r>
              <a:rPr lang="en-US" dirty="0" err="1"/>
              <a:t>đệm</a:t>
            </a:r>
            <a:r>
              <a:rPr lang="en-US" dirty="0"/>
              <a:t> </a:t>
            </a:r>
            <a:r>
              <a:rPr lang="en-US" dirty="0" err="1"/>
              <a:t>đó</a:t>
            </a:r>
            <a:r>
              <a:rPr lang="en-US" dirty="0"/>
              <a:t> </a:t>
            </a:r>
            <a:r>
              <a:rPr lang="en-US" dirty="0" err="1"/>
              <a:t>lên</a:t>
            </a:r>
            <a:r>
              <a:rPr lang="en-US" dirty="0"/>
              <a:t> </a:t>
            </a:r>
            <a:r>
              <a:rPr lang="en-US" dirty="0" err="1"/>
              <a:t>tọa</a:t>
            </a:r>
            <a:r>
              <a:rPr lang="en-US" dirty="0"/>
              <a:t> </a:t>
            </a:r>
            <a:r>
              <a:rPr lang="en-US" dirty="0" err="1"/>
              <a:t>độ</a:t>
            </a:r>
            <a:r>
              <a:rPr lang="en-US" dirty="0"/>
              <a:t> </a:t>
            </a:r>
            <a:r>
              <a:rPr lang="en-US" dirty="0" err="1"/>
              <a:t>cửa</a:t>
            </a:r>
            <a:r>
              <a:rPr lang="en-US" dirty="0"/>
              <a:t> </a:t>
            </a:r>
            <a:r>
              <a:rPr lang="en-US" dirty="0" err="1"/>
              <a:t>sổ</a:t>
            </a:r>
            <a:r>
              <a:rPr lang="en-US" dirty="0"/>
              <a:t> </a:t>
            </a:r>
            <a:r>
              <a:rPr lang="en-US" dirty="0" err="1"/>
              <a:t>ứng</a:t>
            </a:r>
            <a:r>
              <a:rPr lang="en-US" dirty="0"/>
              <a:t> </a:t>
            </a:r>
            <a:r>
              <a:rPr lang="en-US" dirty="0" err="1"/>
              <a:t>dụng</a:t>
            </a:r>
            <a:r>
              <a:rPr lang="en-US" dirty="0"/>
              <a:t> </a:t>
            </a:r>
            <a:r>
              <a:rPr lang="en-US" dirty="0" err="1"/>
              <a:t>trên</a:t>
            </a:r>
            <a:r>
              <a:rPr lang="en-US" dirty="0"/>
              <a:t> </a:t>
            </a:r>
            <a:r>
              <a:rPr lang="en-US" dirty="0" err="1"/>
              <a:t>màn</a:t>
            </a:r>
            <a:r>
              <a:rPr lang="en-US" dirty="0"/>
              <a:t> </a:t>
            </a:r>
            <a:r>
              <a:rPr lang="en-US" dirty="0" err="1"/>
              <a:t>hình</a:t>
            </a:r>
            <a:r>
              <a:rPr lang="en-US" dirty="0"/>
              <a:t> </a:t>
            </a:r>
            <a:r>
              <a:rPr lang="en-US" dirty="0" err="1"/>
              <a:t>của</a:t>
            </a:r>
            <a:r>
              <a:rPr lang="en-US" dirty="0"/>
              <a:t> </a:t>
            </a:r>
            <a:r>
              <a:rPr lang="en-US" dirty="0" err="1"/>
              <a:t>bạn</a:t>
            </a:r>
            <a:r>
              <a:rPr lang="en-US" dirty="0"/>
              <a:t>. Quy </a:t>
            </a:r>
            <a:r>
              <a:rPr lang="en-US" dirty="0" err="1"/>
              <a:t>trình</a:t>
            </a:r>
            <a:r>
              <a:rPr lang="en-US" dirty="0"/>
              <a:t> </a:t>
            </a:r>
            <a:r>
              <a:rPr lang="en-US" dirty="0" err="1"/>
              <a:t>này</a:t>
            </a:r>
            <a:r>
              <a:rPr lang="en-US" dirty="0"/>
              <a:t> </a:t>
            </a:r>
            <a:r>
              <a:rPr lang="en-US" dirty="0" err="1"/>
              <a:t>lặp</a:t>
            </a:r>
            <a:r>
              <a:rPr lang="en-US" dirty="0"/>
              <a:t> </a:t>
            </a:r>
            <a:r>
              <a:rPr lang="en-US" dirty="0" err="1"/>
              <a:t>đi</a:t>
            </a:r>
            <a:r>
              <a:rPr lang="en-US" dirty="0"/>
              <a:t> </a:t>
            </a:r>
            <a:r>
              <a:rPr lang="en-US" dirty="0" err="1"/>
              <a:t>lặp</a:t>
            </a:r>
            <a:r>
              <a:rPr lang="en-US" dirty="0"/>
              <a:t> </a:t>
            </a:r>
            <a:r>
              <a:rPr lang="en-US" dirty="0" err="1"/>
              <a:t>lại</a:t>
            </a:r>
            <a:r>
              <a:rPr lang="en-US" dirty="0"/>
              <a:t> </a:t>
            </a:r>
            <a:r>
              <a:rPr lang="en-US" dirty="0" err="1"/>
              <a:t>liên</a:t>
            </a:r>
            <a:r>
              <a:rPr lang="en-US" dirty="0"/>
              <a:t> </a:t>
            </a:r>
            <a:r>
              <a:rPr lang="en-US" dirty="0" err="1"/>
              <a:t>tục</a:t>
            </a:r>
            <a:r>
              <a:rPr lang="en-US" dirty="0"/>
              <a:t> </a:t>
            </a:r>
            <a:r>
              <a:rPr lang="en-US" dirty="0" err="1"/>
              <a:t>mỗi</a:t>
            </a:r>
            <a:r>
              <a:rPr lang="en-US" dirty="0"/>
              <a:t> </a:t>
            </a:r>
            <a:r>
              <a:rPr lang="en-US" dirty="0" err="1"/>
              <a:t>khi</a:t>
            </a:r>
            <a:r>
              <a:rPr lang="en-US" dirty="0"/>
              <a:t> </a:t>
            </a:r>
            <a:r>
              <a:rPr lang="en-US" dirty="0" err="1"/>
              <a:t>có</a:t>
            </a:r>
            <a:r>
              <a:rPr lang="en-US" dirty="0"/>
              <a:t> </a:t>
            </a:r>
            <a:r>
              <a:rPr lang="en-US" dirty="0" err="1"/>
              <a:t>sự</a:t>
            </a:r>
            <a:r>
              <a:rPr lang="en-US" dirty="0"/>
              <a:t> </a:t>
            </a:r>
            <a:r>
              <a:rPr lang="en-US" dirty="0" err="1"/>
              <a:t>thay</a:t>
            </a:r>
            <a:r>
              <a:rPr lang="en-US" dirty="0"/>
              <a:t> </a:t>
            </a:r>
            <a:r>
              <a:rPr lang="en-US" dirty="0" err="1"/>
              <a:t>đổi</a:t>
            </a:r>
            <a:r>
              <a:rPr lang="en-US" dirty="0"/>
              <a:t> </a:t>
            </a:r>
            <a:r>
              <a:rPr lang="en-US" dirty="0" err="1"/>
              <a:t>giao</a:t>
            </a:r>
            <a:r>
              <a:rPr lang="en-US" dirty="0"/>
              <a:t> </a:t>
            </a:r>
            <a:r>
              <a:rPr lang="en-US" dirty="0" err="1"/>
              <a:t>diện</a:t>
            </a:r>
            <a:r>
              <a:rPr lang="en-US" dirty="0"/>
              <a:t> (Data binding </a:t>
            </a:r>
            <a:r>
              <a:rPr lang="en-US" dirty="0" err="1"/>
              <a:t>thay</a:t>
            </a:r>
            <a:r>
              <a:rPr lang="en-US" dirty="0"/>
              <a:t> </a:t>
            </a:r>
            <a:r>
              <a:rPr lang="en-US" dirty="0" err="1"/>
              <a:t>đổi</a:t>
            </a:r>
            <a:r>
              <a:rPr lang="en-US" dirty="0"/>
              <a:t>, </a:t>
            </a:r>
            <a:r>
              <a:rPr lang="en-US" dirty="0" err="1"/>
              <a:t>người</a:t>
            </a:r>
            <a:r>
              <a:rPr lang="en-US" dirty="0"/>
              <a:t> </a:t>
            </a:r>
            <a:r>
              <a:rPr lang="en-US" dirty="0" err="1"/>
              <a:t>dùng</a:t>
            </a:r>
            <a:r>
              <a:rPr lang="en-US" dirty="0"/>
              <a:t> click </a:t>
            </a:r>
            <a:r>
              <a:rPr lang="en-US" dirty="0" err="1"/>
              <a:t>chuột</a:t>
            </a:r>
            <a:r>
              <a:rPr lang="en-US" dirty="0"/>
              <a:t>, v.v.)</a:t>
            </a:r>
            <a:br>
              <a:rPr lang="en-US" dirty="0">
                <a:ea typeface="Calibri"/>
                <a:cs typeface="+mn-lt"/>
              </a:rPr>
            </a:br>
            <a:br>
              <a:rPr lang="en-US" dirty="0">
                <a:ea typeface="Calibri"/>
                <a:cs typeface="+mn-lt"/>
              </a:rPr>
            </a:br>
            <a:r>
              <a:rPr lang="vi-VN" dirty="0">
                <a:latin typeface="Arial"/>
                <a:cs typeface="Arial"/>
              </a:rPr>
              <a:t>***</a:t>
            </a:r>
            <a:r>
              <a:rPr lang="vi-VN" b="1" dirty="0">
                <a:latin typeface="Arial"/>
                <a:cs typeface="Arial"/>
              </a:rPr>
              <a:t>Câu hỏi:</a:t>
            </a:r>
            <a:r>
              <a:rPr lang="vi-VN" dirty="0">
                <a:latin typeface="Arial"/>
                <a:cs typeface="Arial"/>
              </a:rPr>
              <a:t> ví dụ tôi có 3 button, nhưng chỉ click vào 1 button và button đó thay đổi giao diện. Thì quá trình vẽ lại là vẽ lại toàn bộ hay chỉ vẽ lại button đó?</a:t>
            </a:r>
            <a:endParaRPr lang="en-US" dirty="0">
              <a:latin typeface="Arial"/>
              <a:ea typeface="Calibri"/>
              <a:cs typeface="Arial"/>
            </a:endParaRPr>
          </a:p>
        </p:txBody>
      </p:sp>
      <p:sp>
        <p:nvSpPr>
          <p:cNvPr id="4" name="Slide Number Placeholder 3"/>
          <p:cNvSpPr>
            <a:spLocks noGrp="1"/>
          </p:cNvSpPr>
          <p:nvPr>
            <p:ph type="sldNum" sz="quarter" idx="5"/>
          </p:nvPr>
        </p:nvSpPr>
        <p:spPr/>
        <p:txBody>
          <a:bodyPr/>
          <a:lstStyle/>
          <a:p>
            <a:fld id="{1ABA206C-4022-4CC0-8E55-736A0C024E77}" type="slidenum">
              <a:rPr lang="en-US"/>
              <a:t>7</a:t>
            </a:fld>
            <a:endParaRPr lang="en-US"/>
          </a:p>
        </p:txBody>
      </p:sp>
    </p:spTree>
    <p:extLst>
      <p:ext uri="{BB962C8B-B14F-4D97-AF65-F5344CB8AC3E}">
        <p14:creationId xmlns:p14="http://schemas.microsoft.com/office/powerpoint/2010/main" val="3370434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9DBA5-E634-3D91-9780-26614933D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7F1877-C3FB-0E90-D900-ADC3692DFA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93DDF6-6B6D-8519-BA0C-8A44B4010169}"/>
              </a:ext>
            </a:extLst>
          </p:cNvPr>
          <p:cNvSpPr>
            <a:spLocks noGrp="1"/>
          </p:cNvSpPr>
          <p:nvPr>
            <p:ph type="body" idx="1"/>
          </p:nvPr>
        </p:nvSpPr>
        <p:spPr/>
        <p:txBody>
          <a:bodyPr/>
          <a:lstStyle/>
          <a:p>
            <a:pPr marL="171450" indent="-171450">
              <a:buFont typeface="Calibri"/>
              <a:buChar char="-"/>
            </a:pPr>
            <a:r>
              <a:rPr lang="en-US" b="1" dirty="0" err="1"/>
              <a:t>Khởi</a:t>
            </a:r>
            <a:r>
              <a:rPr lang="en-US" b="1" dirty="0"/>
              <a:t> </a:t>
            </a:r>
            <a:r>
              <a:rPr lang="en-US" b="1" dirty="0" err="1"/>
              <a:t>tạo</a:t>
            </a:r>
            <a:r>
              <a:rPr lang="en-US" b="1" dirty="0"/>
              <a:t> </a:t>
            </a:r>
            <a:r>
              <a:rPr lang="en-US" b="1" dirty="0" err="1"/>
              <a:t>CanvasDevice</a:t>
            </a:r>
            <a:r>
              <a:rPr lang="en-US" b="1" dirty="0"/>
              <a:t>:</a:t>
            </a:r>
            <a:r>
              <a:rPr lang="en-US" dirty="0"/>
              <a:t> </a:t>
            </a:r>
            <a:r>
              <a:rPr lang="en-US" dirty="0" err="1"/>
              <a:t>CanvasControl</a:t>
            </a:r>
            <a:r>
              <a:rPr lang="en-US" dirty="0"/>
              <a:t> </a:t>
            </a:r>
            <a:r>
              <a:rPr lang="en-US" dirty="0" err="1"/>
              <a:t>tự</a:t>
            </a:r>
            <a:r>
              <a:rPr lang="en-US" dirty="0"/>
              <a:t> </a:t>
            </a:r>
            <a:r>
              <a:rPr lang="en-US" dirty="0" err="1"/>
              <a:t>động</a:t>
            </a:r>
            <a:r>
              <a:rPr lang="en-US" dirty="0"/>
              <a:t> </a:t>
            </a:r>
            <a:r>
              <a:rPr lang="en-US" dirty="0" err="1"/>
              <a:t>tạo</a:t>
            </a:r>
            <a:r>
              <a:rPr lang="en-US" dirty="0"/>
              <a:t> </a:t>
            </a:r>
            <a:r>
              <a:rPr lang="en-US" dirty="0" err="1"/>
              <a:t>hoặc</a:t>
            </a:r>
            <a:r>
              <a:rPr lang="en-US" dirty="0"/>
              <a:t> </a:t>
            </a:r>
            <a:r>
              <a:rPr lang="en-US" dirty="0" err="1"/>
              <a:t>liên</a:t>
            </a:r>
            <a:r>
              <a:rPr lang="en-US" dirty="0"/>
              <a:t> </a:t>
            </a:r>
            <a:r>
              <a:rPr lang="en-US" dirty="0" err="1"/>
              <a:t>kết</a:t>
            </a:r>
            <a:r>
              <a:rPr lang="en-US" dirty="0"/>
              <a:t> </a:t>
            </a:r>
            <a:r>
              <a:rPr lang="en-US" dirty="0" err="1"/>
              <a:t>với</a:t>
            </a:r>
            <a:r>
              <a:rPr lang="en-US" dirty="0"/>
              <a:t> </a:t>
            </a:r>
            <a:r>
              <a:rPr lang="en-US" dirty="0" err="1"/>
              <a:t>một</a:t>
            </a:r>
            <a:r>
              <a:rPr lang="en-US" dirty="0"/>
              <a:t> </a:t>
            </a:r>
            <a:r>
              <a:rPr lang="en-US" dirty="0" err="1"/>
              <a:t>CanvasDevice</a:t>
            </a:r>
            <a:r>
              <a:rPr lang="en-US" dirty="0"/>
              <a:t> (</a:t>
            </a:r>
            <a:r>
              <a:rPr lang="en-US" dirty="0" err="1"/>
              <a:t>đối</a:t>
            </a:r>
            <a:r>
              <a:rPr lang="en-US" dirty="0"/>
              <a:t> </a:t>
            </a:r>
            <a:r>
              <a:rPr lang="en-US" dirty="0" err="1"/>
              <a:t>tượng</a:t>
            </a:r>
            <a:r>
              <a:rPr lang="en-US" dirty="0"/>
              <a:t> </a:t>
            </a:r>
            <a:r>
              <a:rPr lang="en-US" dirty="0" err="1"/>
              <a:t>bọc</a:t>
            </a:r>
            <a:r>
              <a:rPr lang="en-US" dirty="0"/>
              <a:t> </a:t>
            </a:r>
            <a:r>
              <a:rPr lang="en-US" dirty="0" err="1"/>
              <a:t>lại</a:t>
            </a:r>
            <a:r>
              <a:rPr lang="en-US" dirty="0"/>
              <a:t> </a:t>
            </a:r>
            <a:r>
              <a:rPr lang="en-US" dirty="0" err="1"/>
              <a:t>thiết</a:t>
            </a:r>
            <a:r>
              <a:rPr lang="en-US" dirty="0"/>
              <a:t> </a:t>
            </a:r>
            <a:r>
              <a:rPr lang="en-US" dirty="0" err="1"/>
              <a:t>bị</a:t>
            </a:r>
            <a:r>
              <a:rPr lang="en-US" dirty="0"/>
              <a:t> </a:t>
            </a:r>
            <a:r>
              <a:rPr lang="en-US" b="1" dirty="0"/>
              <a:t>Direct3D 11/12</a:t>
            </a:r>
            <a:r>
              <a:rPr lang="en-US" dirty="0"/>
              <a:t> </a:t>
            </a:r>
            <a:r>
              <a:rPr lang="en-US" dirty="0" err="1"/>
              <a:t>và</a:t>
            </a:r>
            <a:r>
              <a:rPr lang="en-US" dirty="0"/>
              <a:t> </a:t>
            </a:r>
            <a:r>
              <a:rPr lang="en-US" b="1" dirty="0"/>
              <a:t>Direct2D</a:t>
            </a:r>
            <a:r>
              <a:rPr lang="en-US" dirty="0"/>
              <a:t> </a:t>
            </a:r>
            <a:r>
              <a:rPr lang="en-US" dirty="0" err="1"/>
              <a:t>của</a:t>
            </a:r>
            <a:r>
              <a:rPr lang="en-US" dirty="0"/>
              <a:t> </a:t>
            </a:r>
            <a:r>
              <a:rPr lang="en-US" dirty="0" err="1"/>
              <a:t>hệ</a:t>
            </a:r>
            <a:r>
              <a:rPr lang="en-US" dirty="0"/>
              <a:t> </a:t>
            </a:r>
            <a:r>
              <a:rPr lang="en-US" dirty="0" err="1"/>
              <a:t>thống</a:t>
            </a:r>
            <a:r>
              <a:rPr lang="en-US" dirty="0"/>
              <a:t>). </a:t>
            </a:r>
            <a:r>
              <a:rPr lang="en-US" b="1" dirty="0" err="1"/>
              <a:t>Đăng</a:t>
            </a:r>
            <a:r>
              <a:rPr lang="en-US" b="1" dirty="0"/>
              <a:t> </a:t>
            </a:r>
            <a:r>
              <a:rPr lang="en-US" b="1" dirty="0" err="1"/>
              <a:t>ký</a:t>
            </a:r>
            <a:r>
              <a:rPr lang="en-US" b="1" dirty="0"/>
              <a:t> </a:t>
            </a:r>
            <a:r>
              <a:rPr lang="en-US" b="1" dirty="0" err="1"/>
              <a:t>luồng</a:t>
            </a:r>
            <a:r>
              <a:rPr lang="en-US" b="1" dirty="0"/>
              <a:t>:</a:t>
            </a:r>
            <a:r>
              <a:rPr lang="en-US" dirty="0"/>
              <a:t> </a:t>
            </a:r>
            <a:r>
              <a:rPr lang="en-US" dirty="0" err="1"/>
              <a:t>Nó</a:t>
            </a:r>
            <a:r>
              <a:rPr lang="en-US" dirty="0"/>
              <a:t> </a:t>
            </a:r>
            <a:r>
              <a:rPr lang="en-US" dirty="0" err="1"/>
              <a:t>thiết</a:t>
            </a:r>
            <a:r>
              <a:rPr lang="en-US" dirty="0"/>
              <a:t> </a:t>
            </a:r>
            <a:r>
              <a:rPr lang="en-US" dirty="0" err="1"/>
              <a:t>lập</a:t>
            </a:r>
            <a:r>
              <a:rPr lang="en-US" dirty="0"/>
              <a:t> </a:t>
            </a:r>
            <a:r>
              <a:rPr lang="en-US" dirty="0" err="1"/>
              <a:t>một</a:t>
            </a:r>
            <a:r>
              <a:rPr lang="en-US" dirty="0"/>
              <a:t> </a:t>
            </a:r>
            <a:r>
              <a:rPr lang="en-US" dirty="0" err="1"/>
              <a:t>mối</a:t>
            </a:r>
            <a:r>
              <a:rPr lang="en-US" dirty="0"/>
              <a:t> </a:t>
            </a:r>
            <a:r>
              <a:rPr lang="en-US" dirty="0" err="1"/>
              <a:t>quan</a:t>
            </a:r>
            <a:r>
              <a:rPr lang="en-US" dirty="0"/>
              <a:t> </a:t>
            </a:r>
            <a:r>
              <a:rPr lang="en-US" dirty="0" err="1"/>
              <a:t>hệ</a:t>
            </a:r>
            <a:r>
              <a:rPr lang="en-US" dirty="0"/>
              <a:t> </a:t>
            </a:r>
            <a:r>
              <a:rPr lang="en-US" dirty="0" err="1"/>
              <a:t>để</a:t>
            </a:r>
            <a:r>
              <a:rPr lang="en-US" dirty="0"/>
              <a:t> </a:t>
            </a:r>
            <a:r>
              <a:rPr lang="en-US" dirty="0" err="1"/>
              <a:t>luồng</a:t>
            </a:r>
            <a:r>
              <a:rPr lang="en-US" dirty="0"/>
              <a:t> </a:t>
            </a:r>
            <a:r>
              <a:rPr lang="en-US" dirty="0" err="1"/>
              <a:t>giao</a:t>
            </a:r>
            <a:r>
              <a:rPr lang="en-US" dirty="0"/>
              <a:t> </a:t>
            </a:r>
            <a:r>
              <a:rPr lang="en-US" dirty="0" err="1"/>
              <a:t>diện</a:t>
            </a:r>
            <a:r>
              <a:rPr lang="en-US" dirty="0"/>
              <a:t> (UI Thread) </a:t>
            </a:r>
            <a:r>
              <a:rPr lang="en-US" dirty="0" err="1"/>
              <a:t>của</a:t>
            </a:r>
            <a:r>
              <a:rPr lang="en-US" dirty="0"/>
              <a:t> </a:t>
            </a:r>
            <a:r>
              <a:rPr lang="en-US" dirty="0" err="1"/>
              <a:t>WinUI</a:t>
            </a:r>
            <a:r>
              <a:rPr lang="en-US" dirty="0"/>
              <a:t> </a:t>
            </a:r>
            <a:r>
              <a:rPr lang="en-US" dirty="0" err="1"/>
              <a:t>và</a:t>
            </a:r>
            <a:r>
              <a:rPr lang="en-US" dirty="0"/>
              <a:t> </a:t>
            </a:r>
            <a:r>
              <a:rPr lang="en-US" dirty="0" err="1"/>
              <a:t>luồng</a:t>
            </a:r>
            <a:r>
              <a:rPr lang="en-US" dirty="0"/>
              <a:t> </a:t>
            </a:r>
            <a:r>
              <a:rPr lang="en-US" dirty="0" err="1"/>
              <a:t>xử</a:t>
            </a:r>
            <a:r>
              <a:rPr lang="en-US" dirty="0"/>
              <a:t> </a:t>
            </a:r>
            <a:r>
              <a:rPr lang="en-US" dirty="0" err="1"/>
              <a:t>lý</a:t>
            </a:r>
            <a:r>
              <a:rPr lang="en-US" dirty="0"/>
              <a:t> </a:t>
            </a:r>
            <a:r>
              <a:rPr lang="en-US" dirty="0" err="1"/>
              <a:t>đồ</a:t>
            </a:r>
            <a:r>
              <a:rPr lang="en-US" dirty="0"/>
              <a:t> </a:t>
            </a:r>
            <a:r>
              <a:rPr lang="en-US" dirty="0" err="1"/>
              <a:t>họa</a:t>
            </a:r>
            <a:r>
              <a:rPr lang="en-US" dirty="0"/>
              <a:t> (Render Thread) </a:t>
            </a:r>
            <a:r>
              <a:rPr lang="en-US" dirty="0" err="1"/>
              <a:t>có</a:t>
            </a:r>
            <a:r>
              <a:rPr lang="en-US" dirty="0"/>
              <a:t> </a:t>
            </a:r>
            <a:r>
              <a:rPr lang="en-US" dirty="0" err="1"/>
              <a:t>thể</a:t>
            </a:r>
            <a:r>
              <a:rPr lang="en-US" dirty="0"/>
              <a:t> </a:t>
            </a:r>
            <a:r>
              <a:rPr lang="en-US" dirty="0" err="1"/>
              <a:t>trao</a:t>
            </a:r>
            <a:r>
              <a:rPr lang="en-US" dirty="0"/>
              <a:t> </a:t>
            </a:r>
            <a:r>
              <a:rPr lang="en-US" dirty="0" err="1"/>
              <a:t>đổi</a:t>
            </a:r>
            <a:r>
              <a:rPr lang="en-US" dirty="0"/>
              <a:t> </a:t>
            </a:r>
            <a:r>
              <a:rPr lang="en-US" dirty="0" err="1"/>
              <a:t>dữ</a:t>
            </a:r>
            <a:r>
              <a:rPr lang="en-US" dirty="0"/>
              <a:t> </a:t>
            </a:r>
            <a:r>
              <a:rPr lang="en-US" dirty="0" err="1"/>
              <a:t>liệu</a:t>
            </a:r>
            <a:r>
              <a:rPr lang="en-US" dirty="0"/>
              <a:t> </a:t>
            </a:r>
            <a:r>
              <a:rPr lang="en-US" dirty="0" err="1"/>
              <a:t>mượt</a:t>
            </a:r>
            <a:r>
              <a:rPr lang="en-US" dirty="0"/>
              <a:t> </a:t>
            </a:r>
            <a:r>
              <a:rPr lang="en-US" dirty="0" err="1"/>
              <a:t>mà</a:t>
            </a:r>
            <a:r>
              <a:rPr lang="en-US" dirty="0"/>
              <a:t>, </a:t>
            </a:r>
            <a:r>
              <a:rPr lang="en-US" dirty="0" err="1"/>
              <a:t>sẵn</a:t>
            </a:r>
            <a:r>
              <a:rPr lang="en-US" dirty="0"/>
              <a:t> </a:t>
            </a:r>
            <a:r>
              <a:rPr lang="en-US" dirty="0" err="1"/>
              <a:t>sàng</a:t>
            </a:r>
            <a:r>
              <a:rPr lang="en-US" dirty="0"/>
              <a:t> </a:t>
            </a:r>
            <a:r>
              <a:rPr lang="en-US" dirty="0" err="1"/>
              <a:t>cấp</a:t>
            </a:r>
            <a:r>
              <a:rPr lang="en-US" dirty="0"/>
              <a:t> </a:t>
            </a:r>
            <a:r>
              <a:rPr lang="en-US" dirty="0" err="1"/>
              <a:t>phát</a:t>
            </a:r>
            <a:r>
              <a:rPr lang="en-US" dirty="0"/>
              <a:t> </a:t>
            </a:r>
            <a:r>
              <a:rPr lang="en-US" dirty="0" err="1"/>
              <a:t>các</a:t>
            </a:r>
            <a:r>
              <a:rPr lang="en-US" dirty="0"/>
              <a:t> </a:t>
            </a:r>
            <a:r>
              <a:rPr lang="en-US" dirty="0" err="1"/>
              <a:t>vùng</a:t>
            </a:r>
            <a:r>
              <a:rPr lang="en-US" dirty="0"/>
              <a:t> </a:t>
            </a:r>
            <a:r>
              <a:rPr lang="en-US" dirty="0" err="1"/>
              <a:t>đệm</a:t>
            </a:r>
            <a:r>
              <a:rPr lang="en-US" dirty="0"/>
              <a:t> </a:t>
            </a:r>
            <a:r>
              <a:rPr lang="en-US" dirty="0" err="1"/>
              <a:t>bộ</a:t>
            </a:r>
            <a:r>
              <a:rPr lang="en-US" dirty="0"/>
              <a:t> </a:t>
            </a:r>
            <a:r>
              <a:rPr lang="en-US" dirty="0" err="1"/>
              <a:t>nhớ</a:t>
            </a:r>
            <a:r>
              <a:rPr lang="en-US" dirty="0"/>
              <a:t> (Buffer) </a:t>
            </a:r>
            <a:r>
              <a:rPr lang="en-US" dirty="0" err="1"/>
              <a:t>trên</a:t>
            </a:r>
            <a:r>
              <a:rPr lang="en-US" dirty="0"/>
              <a:t> VRAM </a:t>
            </a:r>
            <a:r>
              <a:rPr lang="en-US" dirty="0" err="1"/>
              <a:t>của</a:t>
            </a:r>
            <a:r>
              <a:rPr lang="en-US" dirty="0"/>
              <a:t> GPU.</a:t>
            </a:r>
          </a:p>
          <a:p>
            <a:pPr marL="171450" indent="-171450">
              <a:buFont typeface="Calibri"/>
              <a:buChar char="-"/>
            </a:pPr>
            <a:r>
              <a:rPr lang="en-US" dirty="0"/>
              <a:t>Trước </a:t>
            </a:r>
            <a:r>
              <a:rPr lang="en-US" dirty="0" err="1"/>
              <a:t>khi</a:t>
            </a:r>
            <a:r>
              <a:rPr lang="en-US" dirty="0"/>
              <a:t> </a:t>
            </a:r>
            <a:r>
              <a:rPr lang="en-US" dirty="0" err="1"/>
              <a:t>vẽ</a:t>
            </a:r>
            <a:r>
              <a:rPr lang="en-US" dirty="0"/>
              <a:t> </a:t>
            </a:r>
            <a:r>
              <a:rPr lang="en-US" dirty="0" err="1"/>
              <a:t>bất</a:t>
            </a:r>
            <a:r>
              <a:rPr lang="en-US" dirty="0"/>
              <a:t> </a:t>
            </a:r>
            <a:r>
              <a:rPr lang="en-US" dirty="0" err="1"/>
              <a:t>cứ</a:t>
            </a:r>
            <a:r>
              <a:rPr lang="en-US" dirty="0"/>
              <a:t> </a:t>
            </a:r>
            <a:r>
              <a:rPr lang="en-US" dirty="0" err="1"/>
              <a:t>thứ</a:t>
            </a:r>
            <a:r>
              <a:rPr lang="en-US" dirty="0"/>
              <a:t> </a:t>
            </a:r>
            <a:r>
              <a:rPr lang="en-US" dirty="0" err="1"/>
              <a:t>gì</a:t>
            </a:r>
            <a:r>
              <a:rPr lang="en-US" dirty="0"/>
              <a:t>, </a:t>
            </a:r>
            <a:r>
              <a:rPr lang="en-US" dirty="0" err="1"/>
              <a:t>CanvasControl</a:t>
            </a:r>
            <a:r>
              <a:rPr lang="en-US" dirty="0"/>
              <a:t> </a:t>
            </a:r>
            <a:r>
              <a:rPr lang="en-US" dirty="0" err="1"/>
              <a:t>cần</a:t>
            </a:r>
            <a:r>
              <a:rPr lang="en-US" dirty="0"/>
              <a:t> </a:t>
            </a:r>
            <a:r>
              <a:rPr lang="en-US" dirty="0" err="1"/>
              <a:t>chuẩn</a:t>
            </a:r>
            <a:r>
              <a:rPr lang="en-US" dirty="0"/>
              <a:t> </a:t>
            </a:r>
            <a:r>
              <a:rPr lang="en-US" dirty="0" err="1"/>
              <a:t>bị</a:t>
            </a:r>
            <a:r>
              <a:rPr lang="en-US" dirty="0"/>
              <a:t> </a:t>
            </a:r>
            <a:r>
              <a:rPr lang="en-US" dirty="0" err="1"/>
              <a:t>sẵn</a:t>
            </a:r>
            <a:r>
              <a:rPr lang="en-US" dirty="0"/>
              <a:t> </a:t>
            </a:r>
            <a:r>
              <a:rPr lang="en-US" dirty="0" err="1"/>
              <a:t>nguyên</a:t>
            </a:r>
            <a:r>
              <a:rPr lang="en-US" dirty="0"/>
              <a:t> </a:t>
            </a:r>
            <a:r>
              <a:rPr lang="en-US" dirty="0" err="1"/>
              <a:t>vật</a:t>
            </a:r>
            <a:r>
              <a:rPr lang="en-US" dirty="0"/>
              <a:t> </a:t>
            </a:r>
            <a:r>
              <a:rPr lang="en-US" dirty="0" err="1"/>
              <a:t>liệu</a:t>
            </a:r>
            <a:r>
              <a:rPr lang="en-US" dirty="0"/>
              <a:t>. </a:t>
            </a:r>
            <a:r>
              <a:rPr lang="en-US" dirty="0" err="1"/>
              <a:t>Nó</a:t>
            </a:r>
            <a:r>
              <a:rPr lang="en-US" dirty="0"/>
              <a:t> </a:t>
            </a:r>
            <a:r>
              <a:rPr lang="en-US" dirty="0" err="1"/>
              <a:t>sẽ</a:t>
            </a:r>
            <a:r>
              <a:rPr lang="en-US" dirty="0"/>
              <a:t> </a:t>
            </a:r>
            <a:r>
              <a:rPr lang="en-US" dirty="0" err="1"/>
              <a:t>kích</a:t>
            </a:r>
            <a:r>
              <a:rPr lang="en-US" dirty="0"/>
              <a:t> </a:t>
            </a:r>
            <a:r>
              <a:rPr lang="en-US" dirty="0" err="1"/>
              <a:t>hoạt</a:t>
            </a:r>
            <a:r>
              <a:rPr lang="en-US" dirty="0"/>
              <a:t> </a:t>
            </a:r>
            <a:r>
              <a:rPr lang="en-US" dirty="0" err="1"/>
              <a:t>sự</a:t>
            </a:r>
            <a:r>
              <a:rPr lang="en-US" dirty="0"/>
              <a:t> </a:t>
            </a:r>
            <a:r>
              <a:rPr lang="en-US" dirty="0" err="1"/>
              <a:t>kiện</a:t>
            </a:r>
            <a:r>
              <a:rPr lang="en-US" dirty="0"/>
              <a:t> </a:t>
            </a:r>
            <a:r>
              <a:rPr lang="en-US" dirty="0" err="1"/>
              <a:t>CreateResources</a:t>
            </a:r>
            <a:endParaRPr lang="en-US" dirty="0" err="1">
              <a:latin typeface="Calibri"/>
              <a:ea typeface="Calibri"/>
              <a:cs typeface="Calibri"/>
            </a:endParaRPr>
          </a:p>
          <a:p>
            <a:pPr marL="171450" indent="-171450">
              <a:buFont typeface="Calibri"/>
              <a:buChar char="-"/>
            </a:pPr>
            <a:endParaRPr lang="en-US" dirty="0"/>
          </a:p>
          <a:p>
            <a:pPr marL="171450" indent="-171450">
              <a:buFont typeface="Calibri"/>
              <a:buChar char="-"/>
            </a:pPr>
            <a:r>
              <a:rPr lang="en-US" b="1" dirty="0" err="1"/>
              <a:t>Tạo</a:t>
            </a:r>
            <a:r>
              <a:rPr lang="en-US" b="1" dirty="0"/>
              <a:t> Virtual Surface / </a:t>
            </a:r>
            <a:r>
              <a:rPr lang="en-US" b="1" dirty="0" err="1"/>
              <a:t>SwapChain</a:t>
            </a:r>
            <a:r>
              <a:rPr lang="en-US" b="1" dirty="0"/>
              <a:t>:</a:t>
            </a:r>
            <a:r>
              <a:rPr lang="en-US" dirty="0"/>
              <a:t> </a:t>
            </a:r>
            <a:r>
              <a:rPr lang="en-US" dirty="0" err="1"/>
              <a:t>Bản</a:t>
            </a:r>
            <a:r>
              <a:rPr lang="en-US" dirty="0"/>
              <a:t> </a:t>
            </a:r>
            <a:r>
              <a:rPr lang="en-US" dirty="0" err="1"/>
              <a:t>chất</a:t>
            </a:r>
            <a:r>
              <a:rPr lang="en-US" dirty="0"/>
              <a:t> </a:t>
            </a:r>
            <a:r>
              <a:rPr lang="en-US" dirty="0" err="1"/>
              <a:t>phía</a:t>
            </a:r>
            <a:r>
              <a:rPr lang="en-US" dirty="0"/>
              <a:t> </a:t>
            </a:r>
            <a:r>
              <a:rPr lang="en-US" dirty="0" err="1"/>
              <a:t>sau</a:t>
            </a:r>
            <a:r>
              <a:rPr lang="en-US" dirty="0"/>
              <a:t> </a:t>
            </a:r>
            <a:r>
              <a:rPr lang="en-US" dirty="0" err="1"/>
              <a:t>CanvasControl</a:t>
            </a:r>
            <a:r>
              <a:rPr lang="en-US" dirty="0"/>
              <a:t> </a:t>
            </a:r>
            <a:r>
              <a:rPr lang="en-US" dirty="0" err="1"/>
              <a:t>là</a:t>
            </a:r>
            <a:r>
              <a:rPr lang="en-US" dirty="0"/>
              <a:t> </a:t>
            </a:r>
            <a:r>
              <a:rPr lang="en-US" dirty="0" err="1"/>
              <a:t>một</a:t>
            </a:r>
            <a:r>
              <a:rPr lang="en-US" dirty="0"/>
              <a:t> </a:t>
            </a:r>
            <a:r>
              <a:rPr lang="en-US" dirty="0" err="1"/>
              <a:t>cấu</a:t>
            </a:r>
            <a:r>
              <a:rPr lang="en-US" dirty="0"/>
              <a:t> </a:t>
            </a:r>
            <a:r>
              <a:rPr lang="en-US" dirty="0" err="1"/>
              <a:t>trúc</a:t>
            </a:r>
            <a:r>
              <a:rPr lang="en-US" dirty="0"/>
              <a:t> </a:t>
            </a:r>
            <a:r>
              <a:rPr lang="en-US" dirty="0" err="1"/>
              <a:t>SpriteVisual</a:t>
            </a:r>
            <a:r>
              <a:rPr lang="en-US" dirty="0"/>
              <a:t> </a:t>
            </a:r>
            <a:r>
              <a:rPr lang="en-US" dirty="0" err="1"/>
              <a:t>của</a:t>
            </a:r>
            <a:r>
              <a:rPr lang="en-US" dirty="0"/>
              <a:t> </a:t>
            </a:r>
            <a:r>
              <a:rPr lang="en-US" dirty="0" err="1"/>
              <a:t>lớp</a:t>
            </a:r>
            <a:r>
              <a:rPr lang="en-US" dirty="0"/>
              <a:t> Visual Layer . Win2D </a:t>
            </a:r>
            <a:r>
              <a:rPr lang="en-US" dirty="0" err="1"/>
              <a:t>sẽ</a:t>
            </a:r>
            <a:r>
              <a:rPr lang="en-US" dirty="0"/>
              <a:t> </a:t>
            </a:r>
            <a:r>
              <a:rPr lang="en-US" dirty="0" err="1"/>
              <a:t>tạo</a:t>
            </a:r>
            <a:r>
              <a:rPr lang="en-US" dirty="0"/>
              <a:t> </a:t>
            </a:r>
            <a:r>
              <a:rPr lang="en-US" dirty="0" err="1"/>
              <a:t>ra</a:t>
            </a:r>
            <a:r>
              <a:rPr lang="en-US" dirty="0"/>
              <a:t> </a:t>
            </a:r>
            <a:r>
              <a:rPr lang="en-US" dirty="0" err="1"/>
              <a:t>một</a:t>
            </a:r>
            <a:r>
              <a:rPr lang="en-US" dirty="0"/>
              <a:t> </a:t>
            </a:r>
            <a:r>
              <a:rPr lang="en-US" b="1" dirty="0" err="1"/>
              <a:t>SwapChain</a:t>
            </a:r>
            <a:r>
              <a:rPr lang="en-US" dirty="0"/>
              <a:t> (</a:t>
            </a:r>
            <a:r>
              <a:rPr lang="en-US" dirty="0" err="1"/>
              <a:t>Chuỗi</a:t>
            </a:r>
            <a:r>
              <a:rPr lang="en-US" dirty="0"/>
              <a:t> </a:t>
            </a:r>
            <a:r>
              <a:rPr lang="en-US" dirty="0" err="1"/>
              <a:t>các</a:t>
            </a:r>
            <a:r>
              <a:rPr lang="en-US" dirty="0"/>
              <a:t> </a:t>
            </a:r>
            <a:r>
              <a:rPr lang="en-US" dirty="0" err="1"/>
              <a:t>bộ</a:t>
            </a:r>
            <a:r>
              <a:rPr lang="en-US" dirty="0"/>
              <a:t> </a:t>
            </a:r>
            <a:r>
              <a:rPr lang="en-US" dirty="0" err="1"/>
              <a:t>đệm</a:t>
            </a:r>
            <a:r>
              <a:rPr lang="en-US" dirty="0"/>
              <a:t> </a:t>
            </a:r>
            <a:r>
              <a:rPr lang="en-US" dirty="0" err="1"/>
              <a:t>khung</a:t>
            </a:r>
            <a:r>
              <a:rPr lang="en-US" dirty="0"/>
              <a:t> </a:t>
            </a:r>
            <a:r>
              <a:rPr lang="en-US" dirty="0" err="1"/>
              <a:t>hình</a:t>
            </a:r>
            <a:r>
              <a:rPr lang="en-US" dirty="0"/>
              <a:t>) </a:t>
            </a:r>
            <a:r>
              <a:rPr lang="en-US" dirty="0" err="1"/>
              <a:t>cấp</a:t>
            </a:r>
            <a:r>
              <a:rPr lang="en-US" dirty="0"/>
              <a:t> </a:t>
            </a:r>
            <a:r>
              <a:rPr lang="en-US" dirty="0" err="1"/>
              <a:t>thấp</a:t>
            </a:r>
            <a:r>
              <a:rPr lang="en-US" dirty="0"/>
              <a:t> </a:t>
            </a:r>
            <a:r>
              <a:rPr lang="en-US" dirty="0" err="1"/>
              <a:t>gắn</a:t>
            </a:r>
            <a:r>
              <a:rPr lang="en-US" dirty="0"/>
              <a:t> </a:t>
            </a:r>
            <a:r>
              <a:rPr lang="en-US" dirty="0" err="1"/>
              <a:t>chặt</a:t>
            </a:r>
            <a:r>
              <a:rPr lang="en-US" dirty="0"/>
              <a:t> </a:t>
            </a:r>
            <a:r>
              <a:rPr lang="en-US" dirty="0" err="1"/>
              <a:t>vào</a:t>
            </a:r>
            <a:r>
              <a:rPr lang="en-US" dirty="0"/>
              <a:t> Node Visual </a:t>
            </a:r>
            <a:r>
              <a:rPr lang="en-US" dirty="0" err="1"/>
              <a:t>này</a:t>
            </a:r>
            <a:r>
              <a:rPr lang="en-US" dirty="0"/>
              <a:t>. </a:t>
            </a:r>
            <a:r>
              <a:rPr lang="en-US" dirty="0" err="1"/>
              <a:t>Nó</a:t>
            </a:r>
            <a:r>
              <a:rPr lang="en-US" dirty="0"/>
              <a:t> </a:t>
            </a:r>
            <a:r>
              <a:rPr lang="en-US" dirty="0" err="1"/>
              <a:t>tạo</a:t>
            </a:r>
            <a:r>
              <a:rPr lang="en-US" dirty="0"/>
              <a:t> </a:t>
            </a:r>
            <a:r>
              <a:rPr lang="en-US" dirty="0" err="1"/>
              <a:t>ra</a:t>
            </a:r>
            <a:r>
              <a:rPr lang="en-US" dirty="0"/>
              <a:t> </a:t>
            </a:r>
            <a:r>
              <a:rPr lang="en-US" dirty="0" err="1"/>
              <a:t>hai</a:t>
            </a:r>
            <a:r>
              <a:rPr lang="en-US" dirty="0"/>
              <a:t> </a:t>
            </a:r>
            <a:r>
              <a:rPr lang="en-US" dirty="0" err="1"/>
              <a:t>bộ</a:t>
            </a:r>
            <a:r>
              <a:rPr lang="en-US" dirty="0"/>
              <a:t> </a:t>
            </a:r>
            <a:r>
              <a:rPr lang="en-US" dirty="0" err="1"/>
              <a:t>đệm</a:t>
            </a:r>
            <a:r>
              <a:rPr lang="en-US" dirty="0"/>
              <a:t>:</a:t>
            </a:r>
            <a:endParaRPr lang="en-US" dirty="0">
              <a:latin typeface="Calibri"/>
              <a:ea typeface="Calibri"/>
              <a:cs typeface="Calibri"/>
            </a:endParaRPr>
          </a:p>
          <a:p>
            <a:pPr lvl="1" indent="-171450">
              <a:buFont typeface="Arial"/>
              <a:buChar char="•"/>
            </a:pPr>
            <a:r>
              <a:rPr lang="en-US" b="1" dirty="0"/>
              <a:t>Back Buffer (</a:t>
            </a:r>
            <a:r>
              <a:rPr lang="en-US" b="1" dirty="0" err="1"/>
              <a:t>Bộ</a:t>
            </a:r>
            <a:r>
              <a:rPr lang="en-US" b="1" dirty="0"/>
              <a:t> </a:t>
            </a:r>
            <a:r>
              <a:rPr lang="en-US" b="1" dirty="0" err="1"/>
              <a:t>đệm</a:t>
            </a:r>
            <a:r>
              <a:rPr lang="en-US" b="1" dirty="0"/>
              <a:t> </a:t>
            </a:r>
            <a:r>
              <a:rPr lang="en-US" b="1" dirty="0" err="1"/>
              <a:t>ẩn</a:t>
            </a:r>
            <a:r>
              <a:rPr lang="en-US" b="1" dirty="0"/>
              <a:t>):</a:t>
            </a:r>
            <a:r>
              <a:rPr lang="en-US" dirty="0"/>
              <a:t> </a:t>
            </a:r>
            <a:r>
              <a:rPr lang="en-US" dirty="0" err="1"/>
              <a:t>Nơi</a:t>
            </a:r>
            <a:r>
              <a:rPr lang="en-US" dirty="0"/>
              <a:t> </a:t>
            </a:r>
            <a:r>
              <a:rPr lang="en-US" dirty="0" err="1"/>
              <a:t>bạn</a:t>
            </a:r>
            <a:r>
              <a:rPr lang="en-US" dirty="0"/>
              <a:t> </a:t>
            </a:r>
            <a:r>
              <a:rPr lang="en-US" dirty="0" err="1"/>
              <a:t>sẽ</a:t>
            </a:r>
            <a:r>
              <a:rPr lang="en-US" dirty="0"/>
              <a:t> </a:t>
            </a:r>
            <a:r>
              <a:rPr lang="en-US" dirty="0" err="1"/>
              <a:t>vẽ</a:t>
            </a:r>
            <a:r>
              <a:rPr lang="en-US" dirty="0"/>
              <a:t> </a:t>
            </a:r>
            <a:r>
              <a:rPr lang="en-US" dirty="0" err="1"/>
              <a:t>lên</a:t>
            </a:r>
            <a:r>
              <a:rPr lang="en-US" dirty="0"/>
              <a:t> </a:t>
            </a:r>
            <a:r>
              <a:rPr lang="en-US" dirty="0" err="1"/>
              <a:t>đó</a:t>
            </a:r>
            <a:r>
              <a:rPr lang="en-US" dirty="0"/>
              <a:t>.</a:t>
            </a:r>
            <a:endParaRPr lang="en-US" dirty="0">
              <a:latin typeface="Calibri"/>
              <a:ea typeface="Calibri"/>
              <a:cs typeface="Calibri"/>
            </a:endParaRPr>
          </a:p>
          <a:p>
            <a:pPr lvl="1" indent="-171450">
              <a:buFont typeface="Arial"/>
              <a:buChar char="•"/>
            </a:pPr>
            <a:r>
              <a:rPr lang="en-US" b="1" dirty="0"/>
              <a:t>Front Buffer (</a:t>
            </a:r>
            <a:r>
              <a:rPr lang="en-US" b="1" dirty="0" err="1"/>
              <a:t>Bộ</a:t>
            </a:r>
            <a:r>
              <a:rPr lang="en-US" b="1" dirty="0"/>
              <a:t> </a:t>
            </a:r>
            <a:r>
              <a:rPr lang="en-US" b="1" dirty="0" err="1"/>
              <a:t>đệm</a:t>
            </a:r>
            <a:r>
              <a:rPr lang="en-US" b="1" dirty="0"/>
              <a:t> </a:t>
            </a:r>
            <a:r>
              <a:rPr lang="en-US" b="1" dirty="0" err="1"/>
              <a:t>hiển</a:t>
            </a:r>
            <a:r>
              <a:rPr lang="en-US" b="1" dirty="0"/>
              <a:t> </a:t>
            </a:r>
            <a:r>
              <a:rPr lang="en-US" b="1" dirty="0" err="1"/>
              <a:t>thị</a:t>
            </a:r>
            <a:r>
              <a:rPr lang="en-US" b="1" dirty="0"/>
              <a:t>):</a:t>
            </a:r>
            <a:r>
              <a:rPr lang="en-US" dirty="0"/>
              <a:t> </a:t>
            </a:r>
            <a:r>
              <a:rPr lang="en-US" dirty="0" err="1"/>
              <a:t>Nơi</a:t>
            </a:r>
            <a:r>
              <a:rPr lang="en-US" dirty="0"/>
              <a:t> GPU </a:t>
            </a:r>
            <a:r>
              <a:rPr lang="en-US" dirty="0" err="1"/>
              <a:t>đang</a:t>
            </a:r>
            <a:r>
              <a:rPr lang="en-US" dirty="0"/>
              <a:t> </a:t>
            </a:r>
            <a:r>
              <a:rPr lang="en-US" dirty="0" err="1"/>
              <a:t>đọc</a:t>
            </a:r>
            <a:r>
              <a:rPr lang="en-US" dirty="0"/>
              <a:t> </a:t>
            </a:r>
            <a:r>
              <a:rPr lang="en-US" dirty="0" err="1"/>
              <a:t>để</a:t>
            </a:r>
            <a:r>
              <a:rPr lang="en-US" dirty="0"/>
              <a:t> </a:t>
            </a:r>
            <a:r>
              <a:rPr lang="en-US" dirty="0" err="1"/>
              <a:t>quét</a:t>
            </a:r>
            <a:r>
              <a:rPr lang="en-US" dirty="0"/>
              <a:t> </a:t>
            </a:r>
            <a:r>
              <a:rPr lang="en-US" dirty="0" err="1"/>
              <a:t>hình</a:t>
            </a:r>
            <a:r>
              <a:rPr lang="en-US" dirty="0"/>
              <a:t> </a:t>
            </a:r>
            <a:r>
              <a:rPr lang="en-US" dirty="0" err="1"/>
              <a:t>ảnh</a:t>
            </a:r>
            <a:r>
              <a:rPr lang="en-US" dirty="0"/>
              <a:t> </a:t>
            </a:r>
            <a:r>
              <a:rPr lang="en-US" dirty="0" err="1"/>
              <a:t>lên</a:t>
            </a:r>
            <a:r>
              <a:rPr lang="en-US" dirty="0"/>
              <a:t> </a:t>
            </a:r>
            <a:r>
              <a:rPr lang="en-US" dirty="0" err="1"/>
              <a:t>màn</a:t>
            </a:r>
            <a:r>
              <a:rPr lang="en-US" dirty="0"/>
              <a:t> </a:t>
            </a:r>
            <a:r>
              <a:rPr lang="en-US" dirty="0" err="1"/>
              <a:t>hình</a:t>
            </a:r>
            <a:r>
              <a:rPr lang="en-US" dirty="0"/>
              <a:t>.</a:t>
            </a:r>
            <a:endParaRPr lang="en-US" dirty="0">
              <a:latin typeface="Calibri"/>
              <a:ea typeface="Calibri"/>
              <a:cs typeface="Calibri"/>
            </a:endParaRPr>
          </a:p>
          <a:p>
            <a:pPr lvl="1" indent="-171450">
              <a:buFont typeface="Arial"/>
              <a:buChar char="•"/>
            </a:pPr>
            <a:endParaRPr lang="en-US" dirty="0"/>
          </a:p>
          <a:p>
            <a:pPr marL="171450" indent="-171450">
              <a:buFont typeface="Calibri"/>
              <a:buChar char="-"/>
            </a:pPr>
            <a:r>
              <a:rPr lang="en-US" dirty="0"/>
              <a:t>Khi </a:t>
            </a:r>
            <a:r>
              <a:rPr lang="en-US" dirty="0" err="1"/>
              <a:t>ứng</a:t>
            </a:r>
            <a:r>
              <a:rPr lang="en-US" dirty="0"/>
              <a:t> </a:t>
            </a:r>
            <a:r>
              <a:rPr lang="en-US" dirty="0" err="1"/>
              <a:t>dụng</a:t>
            </a:r>
            <a:r>
              <a:rPr lang="en-US" dirty="0"/>
              <a:t> </a:t>
            </a:r>
            <a:r>
              <a:rPr lang="en-US" dirty="0" err="1"/>
              <a:t>cần</a:t>
            </a:r>
            <a:r>
              <a:rPr lang="en-US" dirty="0"/>
              <a:t> </a:t>
            </a:r>
            <a:r>
              <a:rPr lang="en-US" dirty="0" err="1"/>
              <a:t>hiển</a:t>
            </a:r>
            <a:r>
              <a:rPr lang="en-US" dirty="0"/>
              <a:t> </a:t>
            </a:r>
            <a:r>
              <a:rPr lang="en-US" dirty="0" err="1"/>
              <a:t>thị</a:t>
            </a:r>
            <a:r>
              <a:rPr lang="en-US" dirty="0"/>
              <a:t> Canvas </a:t>
            </a:r>
            <a:r>
              <a:rPr lang="en-US" dirty="0" err="1"/>
              <a:t>lần</a:t>
            </a:r>
            <a:r>
              <a:rPr lang="en-US" dirty="0"/>
              <a:t> </a:t>
            </a:r>
            <a:r>
              <a:rPr lang="en-US" dirty="0" err="1"/>
              <a:t>đầu</a:t>
            </a:r>
            <a:r>
              <a:rPr lang="en-US" dirty="0"/>
              <a:t>, </a:t>
            </a:r>
            <a:r>
              <a:rPr lang="en-US" dirty="0" err="1"/>
              <a:t>hoặc</a:t>
            </a:r>
            <a:r>
              <a:rPr lang="en-US" dirty="0"/>
              <a:t> </a:t>
            </a:r>
            <a:r>
              <a:rPr lang="en-US" dirty="0" err="1"/>
              <a:t>khi</a:t>
            </a:r>
            <a:r>
              <a:rPr lang="en-US" dirty="0"/>
              <a:t> </a:t>
            </a:r>
            <a:r>
              <a:rPr lang="en-US" dirty="0" err="1"/>
              <a:t>bạn</a:t>
            </a:r>
            <a:r>
              <a:rPr lang="en-US" dirty="0"/>
              <a:t> </a:t>
            </a:r>
            <a:r>
              <a:rPr lang="en-US" dirty="0" err="1"/>
              <a:t>chủ</a:t>
            </a:r>
            <a:r>
              <a:rPr lang="en-US" dirty="0"/>
              <a:t> </a:t>
            </a:r>
            <a:r>
              <a:rPr lang="en-US" dirty="0" err="1"/>
              <a:t>động</a:t>
            </a:r>
            <a:r>
              <a:rPr lang="en-US" dirty="0"/>
              <a:t> </a:t>
            </a:r>
            <a:r>
              <a:rPr lang="en-US" dirty="0" err="1"/>
              <a:t>gọi</a:t>
            </a:r>
            <a:r>
              <a:rPr lang="en-US" dirty="0"/>
              <a:t> </a:t>
            </a:r>
            <a:r>
              <a:rPr lang="en-US" dirty="0" err="1"/>
              <a:t>lệnh</a:t>
            </a:r>
            <a:r>
              <a:rPr lang="en-US" dirty="0"/>
              <a:t> </a:t>
            </a:r>
            <a:r>
              <a:rPr lang="en-US" dirty="0" err="1"/>
              <a:t>CanvasControl.Invalidate</a:t>
            </a:r>
            <a:r>
              <a:rPr lang="en-US" dirty="0"/>
              <a:t>(), </a:t>
            </a:r>
            <a:r>
              <a:rPr lang="en-US" dirty="0" err="1"/>
              <a:t>sự</a:t>
            </a:r>
            <a:r>
              <a:rPr lang="en-US" dirty="0"/>
              <a:t> </a:t>
            </a:r>
            <a:r>
              <a:rPr lang="en-US" dirty="0" err="1"/>
              <a:t>kiện</a:t>
            </a:r>
            <a:r>
              <a:rPr lang="en-US" dirty="0"/>
              <a:t> Draw </a:t>
            </a:r>
            <a:r>
              <a:rPr lang="en-US" dirty="0" err="1"/>
              <a:t>sẽ</a:t>
            </a:r>
            <a:r>
              <a:rPr lang="en-US" dirty="0"/>
              <a:t> </a:t>
            </a:r>
            <a:r>
              <a:rPr lang="en-US" dirty="0" err="1"/>
              <a:t>được</a:t>
            </a:r>
            <a:r>
              <a:rPr lang="en-US" dirty="0"/>
              <a:t> </a:t>
            </a:r>
            <a:r>
              <a:rPr lang="en-US" dirty="0" err="1"/>
              <a:t>kích</a:t>
            </a:r>
            <a:r>
              <a:rPr lang="en-US" dirty="0"/>
              <a:t> </a:t>
            </a:r>
            <a:r>
              <a:rPr lang="en-US" dirty="0" err="1"/>
              <a:t>hoạt</a:t>
            </a:r>
            <a:r>
              <a:rPr lang="en-US" dirty="0"/>
              <a:t> </a:t>
            </a:r>
            <a:r>
              <a:rPr lang="en-US" dirty="0" err="1"/>
              <a:t>trên</a:t>
            </a:r>
            <a:r>
              <a:rPr lang="en-US" dirty="0"/>
              <a:t> </a:t>
            </a:r>
            <a:r>
              <a:rPr lang="en-US" b="1" dirty="0"/>
              <a:t>UI Thread</a:t>
            </a:r>
            <a:r>
              <a:rPr lang="en-US" dirty="0"/>
              <a:t>.</a:t>
            </a:r>
            <a:endParaRPr lang="en-US" dirty="0">
              <a:latin typeface="Calibri"/>
              <a:ea typeface="Calibri"/>
              <a:cs typeface="Calibri"/>
            </a:endParaRPr>
          </a:p>
          <a:p>
            <a:endParaRPr lang="en-US" dirty="0">
              <a:ea typeface="Calibri"/>
              <a:cs typeface="Calibri"/>
            </a:endParaRPr>
          </a:p>
          <a:p>
            <a:endParaRPr lang="en-US" dirty="0">
              <a:latin typeface="Calibri"/>
              <a:ea typeface="Calibri"/>
              <a:cs typeface="Calibri"/>
            </a:endParaRPr>
          </a:p>
          <a:p>
            <a:endParaRPr lang="en-US" dirty="0">
              <a:latin typeface="Calibri"/>
              <a:ea typeface="Calibri"/>
              <a:cs typeface="Calibri"/>
            </a:endParaRPr>
          </a:p>
          <a:p>
            <a:r>
              <a:rPr lang="en-US" b="1" dirty="0" err="1"/>
              <a:t>Sự</a:t>
            </a:r>
            <a:r>
              <a:rPr lang="en-US" b="1" dirty="0"/>
              <a:t> </a:t>
            </a:r>
            <a:r>
              <a:rPr lang="en-US" b="1" dirty="0" err="1"/>
              <a:t>khác</a:t>
            </a:r>
            <a:r>
              <a:rPr lang="en-US" b="1" dirty="0"/>
              <a:t> </a:t>
            </a:r>
            <a:r>
              <a:rPr lang="en-US" b="1" dirty="0" err="1"/>
              <a:t>biệt</a:t>
            </a:r>
            <a:r>
              <a:rPr lang="en-US" b="1" dirty="0"/>
              <a:t> </a:t>
            </a:r>
            <a:r>
              <a:rPr lang="en-US" b="1" dirty="0" err="1"/>
              <a:t>khi</a:t>
            </a:r>
            <a:r>
              <a:rPr lang="en-US" b="1" dirty="0"/>
              <a:t> render </a:t>
            </a:r>
            <a:r>
              <a:rPr lang="en-US" b="1" dirty="0" err="1"/>
              <a:t>CanvasControl</a:t>
            </a:r>
            <a:r>
              <a:rPr lang="en-US" b="1" dirty="0"/>
              <a:t> </a:t>
            </a:r>
            <a:r>
              <a:rPr lang="en-US" b="1" dirty="0" err="1"/>
              <a:t>và</a:t>
            </a:r>
            <a:r>
              <a:rPr lang="en-US" b="1" dirty="0"/>
              <a:t> normal Control:</a:t>
            </a:r>
            <a:endParaRPr lang="en-US" dirty="0">
              <a:solidFill>
                <a:srgbClr val="444444"/>
              </a:solidFill>
            </a:endParaRPr>
          </a:p>
          <a:p>
            <a:r>
              <a:rPr lang="en-US" dirty="0"/>
              <a:t> </a:t>
            </a:r>
            <a:endParaRPr lang="en-US" dirty="0">
              <a:solidFill>
                <a:srgbClr val="444444"/>
              </a:solidFill>
            </a:endParaRPr>
          </a:p>
          <a:p>
            <a:r>
              <a:rPr lang="en-US" b="1" dirty="0"/>
              <a:t>1. </a:t>
            </a:r>
            <a:r>
              <a:rPr lang="en-US" b="1" dirty="0" err="1"/>
              <a:t>Giống</a:t>
            </a:r>
            <a:r>
              <a:rPr lang="en-US" b="1" dirty="0"/>
              <a:t> </a:t>
            </a:r>
            <a:r>
              <a:rPr lang="en-US" b="1" dirty="0" err="1"/>
              <a:t>nhau</a:t>
            </a:r>
            <a:endParaRPr lang="en-US" dirty="0" err="1">
              <a:solidFill>
                <a:srgbClr val="444444"/>
              </a:solidFill>
            </a:endParaRPr>
          </a:p>
          <a:p>
            <a:r>
              <a:rPr lang="en-US" dirty="0"/>
              <a:t>- </a:t>
            </a:r>
            <a:r>
              <a:rPr lang="en-US" dirty="0" err="1"/>
              <a:t>Đều</a:t>
            </a:r>
            <a:r>
              <a:rPr lang="en-US" dirty="0"/>
              <a:t> </a:t>
            </a:r>
            <a:r>
              <a:rPr lang="en-US" dirty="0" err="1"/>
              <a:t>trải</a:t>
            </a:r>
            <a:r>
              <a:rPr lang="en-US" dirty="0"/>
              <a:t> qua </a:t>
            </a:r>
            <a:r>
              <a:rPr lang="en-US" dirty="0" err="1"/>
              <a:t>quá</a:t>
            </a:r>
            <a:r>
              <a:rPr lang="en-US" dirty="0"/>
              <a:t> </a:t>
            </a:r>
            <a:r>
              <a:rPr lang="en-US" dirty="0" err="1"/>
              <a:t>trình</a:t>
            </a:r>
            <a:r>
              <a:rPr lang="en-US" dirty="0"/>
              <a:t> Parse </a:t>
            </a:r>
            <a:r>
              <a:rPr lang="en-US" dirty="0" err="1"/>
              <a:t>và</a:t>
            </a:r>
            <a:r>
              <a:rPr lang="en-US" dirty="0"/>
              <a:t> </a:t>
            </a:r>
            <a:r>
              <a:rPr lang="en-US" dirty="0" err="1"/>
              <a:t>quá</a:t>
            </a:r>
            <a:r>
              <a:rPr lang="en-US" dirty="0"/>
              <a:t> </a:t>
            </a:r>
            <a:r>
              <a:rPr lang="en-US" dirty="0" err="1"/>
              <a:t>trình</a:t>
            </a:r>
            <a:r>
              <a:rPr lang="en-US" dirty="0"/>
              <a:t> Layout (Measure &amp; Arrange)</a:t>
            </a:r>
            <a:endParaRPr lang="en-US" dirty="0">
              <a:solidFill>
                <a:srgbClr val="444444"/>
              </a:solidFill>
            </a:endParaRPr>
          </a:p>
          <a:p>
            <a:r>
              <a:rPr lang="en-US" dirty="0"/>
              <a:t> </a:t>
            </a:r>
            <a:endParaRPr lang="en-US" dirty="0">
              <a:solidFill>
                <a:srgbClr val="444444"/>
              </a:solidFill>
            </a:endParaRPr>
          </a:p>
          <a:p>
            <a:r>
              <a:rPr lang="en-US" b="1" dirty="0"/>
              <a:t>2. </a:t>
            </a:r>
            <a:r>
              <a:rPr lang="en-US" b="1" dirty="0" err="1"/>
              <a:t>Khác</a:t>
            </a:r>
            <a:r>
              <a:rPr lang="en-US" b="1" dirty="0"/>
              <a:t> </a:t>
            </a:r>
            <a:r>
              <a:rPr lang="en-US" b="1" dirty="0" err="1"/>
              <a:t>nhau</a:t>
            </a:r>
            <a:endParaRPr lang="en-US" dirty="0" err="1">
              <a:solidFill>
                <a:srgbClr val="444444"/>
              </a:solidFill>
            </a:endParaRPr>
          </a:p>
          <a:p>
            <a:r>
              <a:rPr lang="en-US" dirty="0"/>
              <a:t>- </a:t>
            </a:r>
            <a:r>
              <a:rPr lang="en-US" dirty="0" err="1"/>
              <a:t>Khác</a:t>
            </a:r>
            <a:r>
              <a:rPr lang="en-US" dirty="0"/>
              <a:t> </a:t>
            </a:r>
            <a:r>
              <a:rPr lang="en-US" dirty="0" err="1"/>
              <a:t>nhau</a:t>
            </a:r>
            <a:r>
              <a:rPr lang="en-US" dirty="0"/>
              <a:t> ở </a:t>
            </a:r>
            <a:r>
              <a:rPr lang="en-US" dirty="0" err="1"/>
              <a:t>bản</a:t>
            </a:r>
            <a:r>
              <a:rPr lang="en-US" dirty="0"/>
              <a:t> </a:t>
            </a:r>
            <a:r>
              <a:rPr lang="en-US" dirty="0" err="1"/>
              <a:t>chất</a:t>
            </a:r>
            <a:r>
              <a:rPr lang="en-US" dirty="0"/>
              <a:t> ở </a:t>
            </a:r>
            <a:r>
              <a:rPr lang="en-US" dirty="0" err="1"/>
              <a:t>mô</a:t>
            </a:r>
            <a:r>
              <a:rPr lang="en-US" dirty="0"/>
              <a:t> </a:t>
            </a:r>
            <a:r>
              <a:rPr lang="en-US" dirty="0" err="1"/>
              <a:t>hình</a:t>
            </a:r>
            <a:r>
              <a:rPr lang="en-US" dirty="0"/>
              <a:t> </a:t>
            </a:r>
            <a:r>
              <a:rPr lang="en-US" dirty="0" err="1"/>
              <a:t>đồ</a:t>
            </a:r>
            <a:r>
              <a:rPr lang="en-US" dirty="0"/>
              <a:t> </a:t>
            </a:r>
            <a:r>
              <a:rPr lang="en-US" dirty="0" err="1"/>
              <a:t>họa</a:t>
            </a:r>
            <a:r>
              <a:rPr lang="en-US" dirty="0"/>
              <a:t>:</a:t>
            </a:r>
            <a:endParaRPr lang="en-US" dirty="0">
              <a:solidFill>
                <a:srgbClr val="444444"/>
              </a:solidFill>
            </a:endParaRPr>
          </a:p>
          <a:p>
            <a:r>
              <a:rPr lang="en-US" dirty="0"/>
              <a:t>    + Retained Mode (</a:t>
            </a:r>
            <a:r>
              <a:rPr lang="en-US" dirty="0" err="1"/>
              <a:t>Hệ</a:t>
            </a:r>
            <a:r>
              <a:rPr lang="en-US" dirty="0"/>
              <a:t> </a:t>
            </a:r>
            <a:r>
              <a:rPr lang="en-US" dirty="0" err="1"/>
              <a:t>thống</a:t>
            </a:r>
            <a:r>
              <a:rPr lang="en-US" dirty="0"/>
              <a:t> </a:t>
            </a:r>
            <a:r>
              <a:rPr lang="en-US" dirty="0" err="1"/>
              <a:t>ghi</a:t>
            </a:r>
            <a:r>
              <a:rPr lang="en-US" dirty="0"/>
              <a:t> </a:t>
            </a:r>
            <a:r>
              <a:rPr lang="en-US" dirty="0" err="1"/>
              <a:t>nhớ</a:t>
            </a:r>
            <a:r>
              <a:rPr lang="en-US" dirty="0"/>
              <a:t> </a:t>
            </a:r>
            <a:r>
              <a:rPr lang="en-US" dirty="0" err="1"/>
              <a:t>cấu</a:t>
            </a:r>
            <a:r>
              <a:rPr lang="en-US" dirty="0"/>
              <a:t> </a:t>
            </a:r>
            <a:r>
              <a:rPr lang="en-US" dirty="0" err="1"/>
              <a:t>trúc</a:t>
            </a:r>
            <a:r>
              <a:rPr lang="en-US" dirty="0"/>
              <a:t>). </a:t>
            </a:r>
            <a:r>
              <a:rPr lang="en-US" dirty="0" err="1"/>
              <a:t>Bạn</a:t>
            </a:r>
            <a:r>
              <a:rPr lang="en-US" dirty="0"/>
              <a:t> </a:t>
            </a:r>
            <a:r>
              <a:rPr lang="en-US" dirty="0" err="1"/>
              <a:t>định</a:t>
            </a:r>
            <a:r>
              <a:rPr lang="en-US" dirty="0"/>
              <a:t> </a:t>
            </a:r>
            <a:r>
              <a:rPr lang="en-US" dirty="0" err="1"/>
              <a:t>nghĩa</a:t>
            </a:r>
            <a:r>
              <a:rPr lang="en-US" dirty="0"/>
              <a:t> </a:t>
            </a:r>
            <a:r>
              <a:rPr lang="en-US" dirty="0" err="1"/>
              <a:t>cấu</a:t>
            </a:r>
            <a:r>
              <a:rPr lang="en-US" dirty="0"/>
              <a:t> </a:t>
            </a:r>
            <a:r>
              <a:rPr lang="en-US" dirty="0" err="1"/>
              <a:t>trúc</a:t>
            </a:r>
            <a:r>
              <a:rPr lang="en-US" dirty="0"/>
              <a:t>, </a:t>
            </a:r>
            <a:r>
              <a:rPr lang="en-US" dirty="0" err="1"/>
              <a:t>WinUI</a:t>
            </a:r>
            <a:r>
              <a:rPr lang="en-US" dirty="0"/>
              <a:t> </a:t>
            </a:r>
            <a:r>
              <a:rPr lang="en-US" dirty="0" err="1"/>
              <a:t>tự</a:t>
            </a:r>
            <a:r>
              <a:rPr lang="en-US" dirty="0"/>
              <a:t> </a:t>
            </a:r>
            <a:r>
              <a:rPr lang="en-US" dirty="0" err="1"/>
              <a:t>quản</a:t>
            </a:r>
            <a:r>
              <a:rPr lang="en-US" dirty="0"/>
              <a:t> </a:t>
            </a:r>
            <a:r>
              <a:rPr lang="en-US" dirty="0" err="1"/>
              <a:t>lý</a:t>
            </a:r>
            <a:r>
              <a:rPr lang="en-US" dirty="0"/>
              <a:t> </a:t>
            </a:r>
            <a:r>
              <a:rPr lang="en-US" dirty="0" err="1"/>
              <a:t>việc</a:t>
            </a:r>
            <a:r>
              <a:rPr lang="en-US" dirty="0"/>
              <a:t> </a:t>
            </a:r>
            <a:r>
              <a:rPr lang="en-US" dirty="0" err="1"/>
              <a:t>khi</a:t>
            </a:r>
            <a:r>
              <a:rPr lang="en-US" dirty="0"/>
              <a:t> </a:t>
            </a:r>
            <a:r>
              <a:rPr lang="en-US" dirty="0" err="1"/>
              <a:t>nào</a:t>
            </a:r>
            <a:r>
              <a:rPr lang="en-US" dirty="0"/>
              <a:t> </a:t>
            </a:r>
            <a:r>
              <a:rPr lang="en-US" dirty="0" err="1"/>
              <a:t>cần</a:t>
            </a:r>
            <a:r>
              <a:rPr lang="en-US" dirty="0"/>
              <a:t> </a:t>
            </a:r>
            <a:r>
              <a:rPr lang="en-US" dirty="0" err="1"/>
              <a:t>vẽ</a:t>
            </a:r>
            <a:r>
              <a:rPr lang="en-US" dirty="0"/>
              <a:t> </a:t>
            </a:r>
            <a:r>
              <a:rPr lang="en-US" dirty="0" err="1"/>
              <a:t>lại</a:t>
            </a:r>
            <a:r>
              <a:rPr lang="en-US" dirty="0"/>
              <a:t>.</a:t>
            </a:r>
            <a:endParaRPr lang="en-US" dirty="0">
              <a:solidFill>
                <a:srgbClr val="444444"/>
              </a:solidFill>
            </a:endParaRPr>
          </a:p>
          <a:p>
            <a:r>
              <a:rPr lang="en-US" dirty="0"/>
              <a:t>    + Immediate Mode (</a:t>
            </a:r>
            <a:r>
              <a:rPr lang="en-US" dirty="0" err="1"/>
              <a:t>Chế</a:t>
            </a:r>
            <a:r>
              <a:rPr lang="en-US" dirty="0"/>
              <a:t> </a:t>
            </a:r>
            <a:r>
              <a:rPr lang="en-US" dirty="0" err="1"/>
              <a:t>độ</a:t>
            </a:r>
            <a:r>
              <a:rPr lang="en-US" dirty="0"/>
              <a:t> </a:t>
            </a:r>
            <a:r>
              <a:rPr lang="en-US" dirty="0" err="1"/>
              <a:t>tức</a:t>
            </a:r>
            <a:r>
              <a:rPr lang="en-US" dirty="0"/>
              <a:t> </a:t>
            </a:r>
            <a:r>
              <a:rPr lang="en-US" dirty="0" err="1"/>
              <a:t>thời</a:t>
            </a:r>
            <a:r>
              <a:rPr lang="en-US" dirty="0"/>
              <a:t>). </a:t>
            </a:r>
            <a:r>
              <a:rPr lang="en-US" dirty="0" err="1"/>
              <a:t>Hệ</a:t>
            </a:r>
            <a:r>
              <a:rPr lang="en-US" dirty="0"/>
              <a:t> </a:t>
            </a:r>
            <a:r>
              <a:rPr lang="en-US" dirty="0" err="1"/>
              <a:t>thống</a:t>
            </a:r>
            <a:r>
              <a:rPr lang="en-US" dirty="0"/>
              <a:t> </a:t>
            </a:r>
            <a:r>
              <a:rPr lang="en-US" dirty="0" err="1"/>
              <a:t>không</a:t>
            </a:r>
            <a:r>
              <a:rPr lang="en-US" dirty="0"/>
              <a:t> </a:t>
            </a:r>
            <a:r>
              <a:rPr lang="en-US" dirty="0" err="1"/>
              <a:t>nhớ</a:t>
            </a:r>
            <a:r>
              <a:rPr lang="en-US" dirty="0"/>
              <a:t> </a:t>
            </a:r>
            <a:r>
              <a:rPr lang="en-US" dirty="0" err="1"/>
              <a:t>bạn</a:t>
            </a:r>
            <a:r>
              <a:rPr lang="en-US" dirty="0"/>
              <a:t> </a:t>
            </a:r>
            <a:r>
              <a:rPr lang="en-US" dirty="0" err="1"/>
              <a:t>đã</a:t>
            </a:r>
            <a:r>
              <a:rPr lang="en-US" dirty="0"/>
              <a:t> </a:t>
            </a:r>
            <a:r>
              <a:rPr lang="en-US" dirty="0" err="1"/>
              <a:t>vẽ</a:t>
            </a:r>
            <a:r>
              <a:rPr lang="en-US" dirty="0"/>
              <a:t> </a:t>
            </a:r>
            <a:r>
              <a:rPr lang="en-US" dirty="0" err="1"/>
              <a:t>gì</a:t>
            </a:r>
            <a:r>
              <a:rPr lang="en-US" dirty="0"/>
              <a:t>, </a:t>
            </a:r>
            <a:r>
              <a:rPr lang="en-US" dirty="0" err="1"/>
              <a:t>bạn</a:t>
            </a:r>
            <a:r>
              <a:rPr lang="en-US" dirty="0"/>
              <a:t> </a:t>
            </a:r>
            <a:r>
              <a:rPr lang="en-US" dirty="0" err="1"/>
              <a:t>phải</a:t>
            </a:r>
            <a:r>
              <a:rPr lang="en-US" dirty="0"/>
              <a:t> </a:t>
            </a:r>
            <a:r>
              <a:rPr lang="en-US" dirty="0" err="1"/>
              <a:t>tự</a:t>
            </a:r>
            <a:r>
              <a:rPr lang="en-US" dirty="0"/>
              <a:t> </a:t>
            </a:r>
            <a:r>
              <a:rPr lang="en-US" dirty="0" err="1"/>
              <a:t>ra</a:t>
            </a:r>
            <a:r>
              <a:rPr lang="en-US" dirty="0"/>
              <a:t> </a:t>
            </a:r>
            <a:r>
              <a:rPr lang="en-US" dirty="0" err="1"/>
              <a:t>lệnh</a:t>
            </a:r>
            <a:r>
              <a:rPr lang="en-US" dirty="0"/>
              <a:t> </a:t>
            </a:r>
            <a:r>
              <a:rPr lang="en-US" dirty="0" err="1"/>
              <a:t>vẽ</a:t>
            </a:r>
            <a:r>
              <a:rPr lang="en-US" dirty="0"/>
              <a:t> </a:t>
            </a:r>
            <a:r>
              <a:rPr lang="en-US" dirty="0" err="1"/>
              <a:t>lại</a:t>
            </a:r>
            <a:r>
              <a:rPr lang="en-US" dirty="0"/>
              <a:t> </a:t>
            </a:r>
            <a:r>
              <a:rPr lang="en-US" dirty="0" err="1"/>
              <a:t>từng</a:t>
            </a:r>
            <a:r>
              <a:rPr lang="en-US" dirty="0"/>
              <a:t> </a:t>
            </a:r>
            <a:r>
              <a:rPr lang="en-US" dirty="0" err="1"/>
              <a:t>khung</a:t>
            </a:r>
            <a:r>
              <a:rPr lang="en-US" dirty="0"/>
              <a:t> </a:t>
            </a:r>
            <a:r>
              <a:rPr lang="en-US" dirty="0" err="1"/>
              <a:t>hình</a:t>
            </a:r>
            <a:r>
              <a:rPr lang="en-US" dirty="0"/>
              <a:t> </a:t>
            </a:r>
            <a:r>
              <a:rPr lang="en-US" dirty="0" err="1"/>
              <a:t>bằng</a:t>
            </a:r>
            <a:r>
              <a:rPr lang="en-US" dirty="0"/>
              <a:t> code.</a:t>
            </a:r>
            <a:endParaRPr lang="en-US" dirty="0">
              <a:solidFill>
                <a:srgbClr val="444444"/>
              </a:solidFill>
            </a:endParaRPr>
          </a:p>
          <a:p>
            <a:r>
              <a:rPr lang="en-US" dirty="0"/>
              <a:t>    </a:t>
            </a:r>
            <a:endParaRPr lang="en-US" dirty="0">
              <a:solidFill>
                <a:srgbClr val="444444"/>
              </a:solidFill>
            </a:endParaRPr>
          </a:p>
          <a:p>
            <a:r>
              <a:rPr lang="en-US" dirty="0"/>
              <a:t>- </a:t>
            </a:r>
            <a:r>
              <a:rPr lang="en-US" dirty="0" err="1"/>
              <a:t>Nội</a:t>
            </a:r>
            <a:r>
              <a:rPr lang="en-US" dirty="0"/>
              <a:t> dung </a:t>
            </a:r>
            <a:r>
              <a:rPr lang="en-US" dirty="0" err="1"/>
              <a:t>bên</a:t>
            </a:r>
            <a:r>
              <a:rPr lang="en-US" dirty="0"/>
              <a:t> </a:t>
            </a:r>
            <a:r>
              <a:rPr lang="en-US" dirty="0" err="1"/>
              <a:t>trong</a:t>
            </a:r>
            <a:r>
              <a:rPr lang="en-US" dirty="0"/>
              <a:t>:</a:t>
            </a:r>
            <a:endParaRPr lang="en-US" dirty="0">
              <a:solidFill>
                <a:srgbClr val="444444"/>
              </a:solidFill>
            </a:endParaRPr>
          </a:p>
          <a:p>
            <a:r>
              <a:rPr lang="en-US" dirty="0"/>
              <a:t>    + </a:t>
            </a:r>
            <a:r>
              <a:rPr lang="en-US" dirty="0" err="1"/>
              <a:t>Là</a:t>
            </a:r>
            <a:r>
              <a:rPr lang="en-US" dirty="0"/>
              <a:t> </a:t>
            </a:r>
            <a:r>
              <a:rPr lang="en-US" dirty="0" err="1"/>
              <a:t>các</a:t>
            </a:r>
            <a:r>
              <a:rPr lang="en-US" dirty="0"/>
              <a:t> </a:t>
            </a:r>
            <a:r>
              <a:rPr lang="en-US" dirty="0" err="1"/>
              <a:t>đối</a:t>
            </a:r>
            <a:r>
              <a:rPr lang="en-US" dirty="0"/>
              <a:t> </a:t>
            </a:r>
            <a:r>
              <a:rPr lang="en-US" dirty="0" err="1"/>
              <a:t>tượng</a:t>
            </a:r>
            <a:r>
              <a:rPr lang="en-US" dirty="0"/>
              <a:t> UI </a:t>
            </a:r>
            <a:r>
              <a:rPr lang="en-US" dirty="0" err="1"/>
              <a:t>có</a:t>
            </a:r>
            <a:r>
              <a:rPr lang="en-US" dirty="0"/>
              <a:t> </a:t>
            </a:r>
            <a:r>
              <a:rPr lang="en-US" dirty="0" err="1"/>
              <a:t>thật</a:t>
            </a:r>
            <a:r>
              <a:rPr lang="en-US" dirty="0"/>
              <a:t>, </a:t>
            </a:r>
            <a:r>
              <a:rPr lang="en-US" dirty="0" err="1"/>
              <a:t>có</a:t>
            </a:r>
            <a:r>
              <a:rPr lang="en-US" dirty="0"/>
              <a:t> </a:t>
            </a:r>
            <a:r>
              <a:rPr lang="en-US" dirty="0" err="1"/>
              <a:t>thể</a:t>
            </a:r>
            <a:r>
              <a:rPr lang="en-US" dirty="0"/>
              <a:t> </a:t>
            </a:r>
            <a:r>
              <a:rPr lang="en-US" dirty="0" err="1"/>
              <a:t>tương</a:t>
            </a:r>
            <a:r>
              <a:rPr lang="en-US" dirty="0"/>
              <a:t> </a:t>
            </a:r>
            <a:r>
              <a:rPr lang="en-US" dirty="0" err="1"/>
              <a:t>tác</a:t>
            </a:r>
            <a:r>
              <a:rPr lang="en-US" dirty="0"/>
              <a:t> </a:t>
            </a:r>
            <a:r>
              <a:rPr lang="en-US" dirty="0" err="1"/>
              <a:t>độc</a:t>
            </a:r>
            <a:r>
              <a:rPr lang="en-US" dirty="0"/>
              <a:t> </a:t>
            </a:r>
            <a:r>
              <a:rPr lang="en-US" dirty="0" err="1"/>
              <a:t>lập</a:t>
            </a:r>
            <a:r>
              <a:rPr lang="en-US" dirty="0"/>
              <a:t> (</a:t>
            </a:r>
            <a:r>
              <a:rPr lang="en-US" dirty="0" err="1"/>
              <a:t>bạn</a:t>
            </a:r>
            <a:r>
              <a:rPr lang="en-US" dirty="0"/>
              <a:t> </a:t>
            </a:r>
            <a:r>
              <a:rPr lang="en-US" dirty="0" err="1"/>
              <a:t>có</a:t>
            </a:r>
            <a:r>
              <a:rPr lang="en-US" dirty="0"/>
              <a:t> </a:t>
            </a:r>
            <a:r>
              <a:rPr lang="en-US" dirty="0" err="1"/>
              <a:t>thể</a:t>
            </a:r>
            <a:r>
              <a:rPr lang="en-US" dirty="0"/>
              <a:t> click </a:t>
            </a:r>
            <a:r>
              <a:rPr lang="en-US" dirty="0" err="1"/>
              <a:t>vào</a:t>
            </a:r>
            <a:r>
              <a:rPr lang="en-US" dirty="0"/>
              <a:t> </a:t>
            </a:r>
            <a:r>
              <a:rPr lang="en-US" dirty="0" err="1"/>
              <a:t>chữ</a:t>
            </a:r>
            <a:r>
              <a:rPr lang="en-US" dirty="0"/>
              <a:t> </a:t>
            </a:r>
            <a:r>
              <a:rPr lang="en-US" dirty="0" err="1"/>
              <a:t>bên</a:t>
            </a:r>
            <a:r>
              <a:rPr lang="en-US" dirty="0"/>
              <a:t> </a:t>
            </a:r>
            <a:r>
              <a:rPr lang="en-US" dirty="0" err="1"/>
              <a:t>trong</a:t>
            </a:r>
            <a:r>
              <a:rPr lang="en-US" dirty="0"/>
              <a:t> button).</a:t>
            </a:r>
            <a:endParaRPr lang="en-US" dirty="0">
              <a:solidFill>
                <a:srgbClr val="444444"/>
              </a:solidFill>
            </a:endParaRPr>
          </a:p>
          <a:p>
            <a:r>
              <a:rPr lang="en-US" dirty="0"/>
              <a:t>    + </a:t>
            </a:r>
            <a:r>
              <a:rPr lang="en-US" dirty="0" err="1"/>
              <a:t>Chỉ</a:t>
            </a:r>
            <a:r>
              <a:rPr lang="en-US" dirty="0"/>
              <a:t> </a:t>
            </a:r>
            <a:r>
              <a:rPr lang="en-US" dirty="0" err="1"/>
              <a:t>là</a:t>
            </a:r>
            <a:r>
              <a:rPr lang="en-US" dirty="0"/>
              <a:t> </a:t>
            </a:r>
            <a:r>
              <a:rPr lang="en-US" dirty="0" err="1"/>
              <a:t>các</a:t>
            </a:r>
            <a:r>
              <a:rPr lang="en-US" dirty="0"/>
              <a:t> pixel </a:t>
            </a:r>
            <a:r>
              <a:rPr lang="en-US" dirty="0" err="1"/>
              <a:t>thuần</a:t>
            </a:r>
            <a:r>
              <a:rPr lang="en-US" dirty="0"/>
              <a:t> </a:t>
            </a:r>
            <a:r>
              <a:rPr lang="en-US" dirty="0" err="1"/>
              <a:t>túy</a:t>
            </a:r>
            <a:r>
              <a:rPr lang="en-US" dirty="0"/>
              <a:t> </a:t>
            </a:r>
            <a:r>
              <a:rPr lang="en-US" dirty="0" err="1"/>
              <a:t>được</a:t>
            </a:r>
            <a:r>
              <a:rPr lang="en-US" dirty="0"/>
              <a:t> </a:t>
            </a:r>
            <a:r>
              <a:rPr lang="en-US" dirty="0" err="1"/>
              <a:t>vẽ</a:t>
            </a:r>
            <a:r>
              <a:rPr lang="en-US" dirty="0"/>
              <a:t> </a:t>
            </a:r>
            <a:r>
              <a:rPr lang="en-US" dirty="0" err="1"/>
              <a:t>lên</a:t>
            </a:r>
            <a:r>
              <a:rPr lang="en-US" dirty="0"/>
              <a:t> </a:t>
            </a:r>
            <a:r>
              <a:rPr lang="en-US" dirty="0" err="1"/>
              <a:t>một</a:t>
            </a:r>
            <a:r>
              <a:rPr lang="en-US" dirty="0"/>
              <a:t> </a:t>
            </a:r>
            <a:r>
              <a:rPr lang="en-US" dirty="0" err="1"/>
              <a:t>tấm</a:t>
            </a:r>
            <a:r>
              <a:rPr lang="en-US" dirty="0"/>
              <a:t> </a:t>
            </a:r>
            <a:r>
              <a:rPr lang="en-US" dirty="0" err="1"/>
              <a:t>bạt</a:t>
            </a:r>
            <a:r>
              <a:rPr lang="en-US" dirty="0"/>
              <a:t>. </a:t>
            </a:r>
            <a:r>
              <a:rPr lang="en-US" dirty="0" err="1"/>
              <a:t>Hệ</a:t>
            </a:r>
            <a:r>
              <a:rPr lang="en-US" dirty="0"/>
              <a:t> </a:t>
            </a:r>
            <a:r>
              <a:rPr lang="en-US" dirty="0" err="1"/>
              <a:t>thống</a:t>
            </a:r>
            <a:r>
              <a:rPr lang="en-US" dirty="0"/>
              <a:t> </a:t>
            </a:r>
            <a:r>
              <a:rPr lang="en-US" dirty="0" err="1"/>
              <a:t>không</a:t>
            </a:r>
            <a:r>
              <a:rPr lang="en-US" dirty="0"/>
              <a:t> </a:t>
            </a:r>
            <a:r>
              <a:rPr lang="en-US" dirty="0" err="1"/>
              <a:t>biết</a:t>
            </a:r>
            <a:r>
              <a:rPr lang="en-US" dirty="0"/>
              <a:t> </a:t>
            </a:r>
            <a:r>
              <a:rPr lang="en-US" dirty="0" err="1"/>
              <a:t>hình</a:t>
            </a:r>
            <a:r>
              <a:rPr lang="en-US" dirty="0"/>
              <a:t> </a:t>
            </a:r>
            <a:r>
              <a:rPr lang="en-US" dirty="0" err="1"/>
              <a:t>tròn</a:t>
            </a:r>
            <a:r>
              <a:rPr lang="en-US" dirty="0"/>
              <a:t> </a:t>
            </a:r>
            <a:r>
              <a:rPr lang="en-US" dirty="0" err="1"/>
              <a:t>bạn</a:t>
            </a:r>
            <a:r>
              <a:rPr lang="en-US" dirty="0"/>
              <a:t> </a:t>
            </a:r>
            <a:r>
              <a:rPr lang="en-US" dirty="0" err="1"/>
              <a:t>vừa</a:t>
            </a:r>
            <a:r>
              <a:rPr lang="en-US" dirty="0"/>
              <a:t> </a:t>
            </a:r>
            <a:r>
              <a:rPr lang="en-US" dirty="0" err="1"/>
              <a:t>vẽ</a:t>
            </a:r>
            <a:r>
              <a:rPr lang="en-US" dirty="0"/>
              <a:t> </a:t>
            </a:r>
            <a:r>
              <a:rPr lang="en-US" dirty="0" err="1"/>
              <a:t>nằm</a:t>
            </a:r>
            <a:r>
              <a:rPr lang="en-US" dirty="0"/>
              <a:t> ở </a:t>
            </a:r>
            <a:r>
              <a:rPr lang="en-US" dirty="0" err="1"/>
              <a:t>đâu</a:t>
            </a:r>
            <a:r>
              <a:rPr lang="en-US" dirty="0"/>
              <a:t>, </a:t>
            </a:r>
            <a:r>
              <a:rPr lang="en-US" dirty="0" err="1"/>
              <a:t>bạn</a:t>
            </a:r>
            <a:r>
              <a:rPr lang="en-US" dirty="0"/>
              <a:t> </a:t>
            </a:r>
            <a:r>
              <a:rPr lang="en-US" dirty="0" err="1"/>
              <a:t>phải</a:t>
            </a:r>
            <a:r>
              <a:rPr lang="en-US" dirty="0"/>
              <a:t> </a:t>
            </a:r>
            <a:r>
              <a:rPr lang="en-US" dirty="0" err="1"/>
              <a:t>tự</a:t>
            </a:r>
            <a:r>
              <a:rPr lang="en-US" dirty="0"/>
              <a:t> </a:t>
            </a:r>
            <a:r>
              <a:rPr lang="en-US" dirty="0" err="1"/>
              <a:t>tính</a:t>
            </a:r>
            <a:r>
              <a:rPr lang="en-US" dirty="0"/>
              <a:t> </a:t>
            </a:r>
            <a:r>
              <a:rPr lang="en-US" dirty="0" err="1"/>
              <a:t>toán</a:t>
            </a:r>
            <a:r>
              <a:rPr lang="en-US" dirty="0"/>
              <a:t> </a:t>
            </a:r>
            <a:r>
              <a:rPr lang="en-US" dirty="0" err="1"/>
              <a:t>tọa</a:t>
            </a:r>
            <a:r>
              <a:rPr lang="en-US" dirty="0"/>
              <a:t> </a:t>
            </a:r>
            <a:r>
              <a:rPr lang="en-US" dirty="0" err="1"/>
              <a:t>độ</a:t>
            </a:r>
            <a:r>
              <a:rPr lang="en-US" dirty="0"/>
              <a:t> </a:t>
            </a:r>
            <a:r>
              <a:rPr lang="en-US" dirty="0" err="1"/>
              <a:t>chuột</a:t>
            </a:r>
            <a:r>
              <a:rPr lang="en-US" dirty="0"/>
              <a:t> </a:t>
            </a:r>
            <a:r>
              <a:rPr lang="en-US" dirty="0" err="1"/>
              <a:t>nếu</a:t>
            </a:r>
            <a:r>
              <a:rPr lang="en-US" dirty="0"/>
              <a:t> </a:t>
            </a:r>
            <a:r>
              <a:rPr lang="en-US" dirty="0" err="1"/>
              <a:t>muốn</a:t>
            </a:r>
            <a:r>
              <a:rPr lang="en-US" dirty="0"/>
              <a:t> click </a:t>
            </a:r>
            <a:r>
              <a:rPr lang="en-US" dirty="0" err="1"/>
              <a:t>vào</a:t>
            </a:r>
            <a:r>
              <a:rPr lang="en-US" dirty="0"/>
              <a:t> </a:t>
            </a:r>
            <a:r>
              <a:rPr lang="en-US" dirty="0" err="1"/>
              <a:t>hình</a:t>
            </a:r>
            <a:r>
              <a:rPr lang="en-US" dirty="0"/>
              <a:t> </a:t>
            </a:r>
            <a:r>
              <a:rPr lang="en-US" dirty="0" err="1"/>
              <a:t>tròn</a:t>
            </a:r>
            <a:r>
              <a:rPr lang="en-US" dirty="0"/>
              <a:t> </a:t>
            </a:r>
            <a:r>
              <a:rPr lang="en-US" dirty="0" err="1"/>
              <a:t>đó</a:t>
            </a:r>
            <a:r>
              <a:rPr lang="en-US" dirty="0"/>
              <a:t>.</a:t>
            </a:r>
            <a:endParaRPr lang="en-US" dirty="0">
              <a:solidFill>
                <a:srgbClr val="444444"/>
              </a:solidFill>
            </a:endParaRPr>
          </a:p>
          <a:p>
            <a:r>
              <a:rPr lang="en-US" dirty="0"/>
              <a:t>    </a:t>
            </a:r>
            <a:endParaRPr lang="en-US" dirty="0">
              <a:solidFill>
                <a:srgbClr val="444444"/>
              </a:solidFill>
            </a:endParaRPr>
          </a:p>
          <a:p>
            <a:r>
              <a:rPr lang="en-US" dirty="0"/>
              <a:t>- </a:t>
            </a:r>
            <a:r>
              <a:rPr lang="en-US" dirty="0" err="1"/>
              <a:t>Cơ</a:t>
            </a:r>
            <a:r>
              <a:rPr lang="en-US" dirty="0"/>
              <a:t> </a:t>
            </a:r>
            <a:r>
              <a:rPr lang="en-US" dirty="0" err="1"/>
              <a:t>chế</a:t>
            </a:r>
            <a:r>
              <a:rPr lang="en-US" dirty="0"/>
              <a:t> </a:t>
            </a:r>
            <a:r>
              <a:rPr lang="en-US" dirty="0" err="1"/>
              <a:t>vẽ</a:t>
            </a:r>
            <a:r>
              <a:rPr lang="en-US" dirty="0"/>
              <a:t> </a:t>
            </a:r>
            <a:r>
              <a:rPr lang="en-US" dirty="0" err="1"/>
              <a:t>lại</a:t>
            </a:r>
            <a:r>
              <a:rPr lang="en-US" dirty="0"/>
              <a:t> (Redraw):</a:t>
            </a:r>
            <a:endParaRPr lang="en-US" dirty="0">
              <a:solidFill>
                <a:srgbClr val="444444"/>
              </a:solidFill>
            </a:endParaRPr>
          </a:p>
          <a:p>
            <a:r>
              <a:rPr lang="en-US" dirty="0"/>
              <a:t>    + Partial Redraw: </a:t>
            </a:r>
            <a:r>
              <a:rPr lang="en-US" dirty="0" err="1"/>
              <a:t>Chỉ</a:t>
            </a:r>
            <a:r>
              <a:rPr lang="en-US" dirty="0"/>
              <a:t> </a:t>
            </a:r>
            <a:r>
              <a:rPr lang="en-US" dirty="0" err="1"/>
              <a:t>vẽ</a:t>
            </a:r>
            <a:r>
              <a:rPr lang="en-US" dirty="0"/>
              <a:t> </a:t>
            </a:r>
            <a:r>
              <a:rPr lang="en-US" dirty="0" err="1"/>
              <a:t>lại</a:t>
            </a:r>
            <a:r>
              <a:rPr lang="en-US" dirty="0"/>
              <a:t> </a:t>
            </a:r>
            <a:r>
              <a:rPr lang="en-US" dirty="0" err="1"/>
              <a:t>phần</a:t>
            </a:r>
            <a:r>
              <a:rPr lang="en-US" dirty="0"/>
              <a:t> </a:t>
            </a:r>
            <a:r>
              <a:rPr lang="en-US" dirty="0" err="1"/>
              <a:t>bị</a:t>
            </a:r>
            <a:r>
              <a:rPr lang="en-US" dirty="0"/>
              <a:t> </a:t>
            </a:r>
            <a:r>
              <a:rPr lang="en-US" dirty="0" err="1"/>
              <a:t>bẩn</a:t>
            </a:r>
            <a:r>
              <a:rPr lang="en-US" dirty="0"/>
              <a:t> (Dirty Region). </a:t>
            </a:r>
            <a:r>
              <a:rPr lang="en-US" dirty="0" err="1"/>
              <a:t>Tự</a:t>
            </a:r>
            <a:r>
              <a:rPr lang="en-US" dirty="0"/>
              <a:t> </a:t>
            </a:r>
            <a:r>
              <a:rPr lang="en-US" dirty="0" err="1"/>
              <a:t>động</a:t>
            </a:r>
            <a:r>
              <a:rPr lang="en-US" dirty="0"/>
              <a:t> </a:t>
            </a:r>
            <a:r>
              <a:rPr lang="en-US" dirty="0" err="1"/>
              <a:t>tối</a:t>
            </a:r>
            <a:r>
              <a:rPr lang="en-US" dirty="0"/>
              <a:t> </a:t>
            </a:r>
            <a:r>
              <a:rPr lang="en-US" dirty="0" err="1"/>
              <a:t>ưu</a:t>
            </a:r>
            <a:r>
              <a:rPr lang="en-US" dirty="0"/>
              <a:t> </a:t>
            </a:r>
            <a:r>
              <a:rPr lang="en-US" dirty="0" err="1"/>
              <a:t>hóa</a:t>
            </a:r>
            <a:r>
              <a:rPr lang="en-US" dirty="0"/>
              <a:t> </a:t>
            </a:r>
            <a:r>
              <a:rPr lang="en-US" dirty="0" err="1"/>
              <a:t>từ</a:t>
            </a:r>
            <a:r>
              <a:rPr lang="en-US" dirty="0"/>
              <a:t> framework.</a:t>
            </a:r>
            <a:endParaRPr lang="en-US" dirty="0">
              <a:solidFill>
                <a:srgbClr val="444444"/>
              </a:solidFill>
            </a:endParaRPr>
          </a:p>
          <a:p>
            <a:r>
              <a:rPr lang="en-US" dirty="0"/>
              <a:t>    + </a:t>
            </a:r>
            <a:r>
              <a:rPr lang="en-US" dirty="0" err="1"/>
              <a:t>Toàn</a:t>
            </a:r>
            <a:r>
              <a:rPr lang="en-US" dirty="0"/>
              <a:t> </a:t>
            </a:r>
            <a:r>
              <a:rPr lang="en-US" dirty="0" err="1"/>
              <a:t>bộ</a:t>
            </a:r>
            <a:r>
              <a:rPr lang="en-US" dirty="0"/>
              <a:t> </a:t>
            </a:r>
            <a:r>
              <a:rPr lang="en-US" dirty="0" err="1"/>
              <a:t>hoặc</a:t>
            </a:r>
            <a:r>
              <a:rPr lang="en-US" dirty="0"/>
              <a:t> </a:t>
            </a:r>
            <a:r>
              <a:rPr lang="en-US" dirty="0" err="1"/>
              <a:t>Thủ</a:t>
            </a:r>
            <a:r>
              <a:rPr lang="en-US" dirty="0"/>
              <a:t> </a:t>
            </a:r>
            <a:r>
              <a:rPr lang="en-US" dirty="0" err="1"/>
              <a:t>công</a:t>
            </a:r>
            <a:r>
              <a:rPr lang="en-US" dirty="0"/>
              <a:t>: </a:t>
            </a:r>
            <a:r>
              <a:rPr lang="en-US" dirty="0" err="1"/>
              <a:t>Mỗi</a:t>
            </a:r>
            <a:r>
              <a:rPr lang="en-US" dirty="0"/>
              <a:t> </a:t>
            </a:r>
            <a:r>
              <a:rPr lang="en-US" dirty="0" err="1"/>
              <a:t>khi</a:t>
            </a:r>
            <a:r>
              <a:rPr lang="en-US" dirty="0"/>
              <a:t> </a:t>
            </a:r>
            <a:r>
              <a:rPr lang="en-US" dirty="0" err="1"/>
              <a:t>gọi</a:t>
            </a:r>
            <a:r>
              <a:rPr lang="en-US" dirty="0"/>
              <a:t> Invalidate(), </a:t>
            </a:r>
            <a:r>
              <a:rPr lang="en-US" dirty="0" err="1"/>
              <a:t>toàn</a:t>
            </a:r>
            <a:r>
              <a:rPr lang="en-US" dirty="0"/>
              <a:t> </a:t>
            </a:r>
            <a:r>
              <a:rPr lang="en-US" dirty="0" err="1"/>
              <a:t>bộ</a:t>
            </a:r>
            <a:r>
              <a:rPr lang="en-US" dirty="0"/>
              <a:t> </a:t>
            </a:r>
            <a:r>
              <a:rPr lang="en-US" dirty="0" err="1"/>
              <a:t>vùng</a:t>
            </a:r>
            <a:r>
              <a:rPr lang="en-US" dirty="0"/>
              <a:t> </a:t>
            </a:r>
            <a:r>
              <a:rPr lang="en-US" dirty="0" err="1"/>
              <a:t>bạt</a:t>
            </a:r>
            <a:r>
              <a:rPr lang="en-US" dirty="0"/>
              <a:t> </a:t>
            </a:r>
            <a:r>
              <a:rPr lang="en-US" dirty="0" err="1"/>
              <a:t>của</a:t>
            </a:r>
            <a:r>
              <a:rPr lang="en-US" dirty="0"/>
              <a:t> Canvas </a:t>
            </a:r>
            <a:r>
              <a:rPr lang="en-US" dirty="0" err="1"/>
              <a:t>sẽ</a:t>
            </a:r>
            <a:r>
              <a:rPr lang="en-US" dirty="0"/>
              <a:t> </a:t>
            </a:r>
            <a:r>
              <a:rPr lang="en-US" dirty="0" err="1"/>
              <a:t>xóa</a:t>
            </a:r>
            <a:r>
              <a:rPr lang="en-US" dirty="0"/>
              <a:t> </a:t>
            </a:r>
            <a:r>
              <a:rPr lang="en-US" dirty="0" err="1"/>
              <a:t>đi</a:t>
            </a:r>
            <a:r>
              <a:rPr lang="en-US" dirty="0"/>
              <a:t> </a:t>
            </a:r>
            <a:r>
              <a:rPr lang="en-US" dirty="0" err="1"/>
              <a:t>và</a:t>
            </a:r>
            <a:r>
              <a:rPr lang="en-US" dirty="0"/>
              <a:t> </a:t>
            </a:r>
            <a:r>
              <a:rPr lang="en-US" dirty="0" err="1"/>
              <a:t>chạy</a:t>
            </a:r>
            <a:r>
              <a:rPr lang="en-US" dirty="0"/>
              <a:t> </a:t>
            </a:r>
            <a:r>
              <a:rPr lang="en-US" dirty="0" err="1"/>
              <a:t>lại</a:t>
            </a:r>
            <a:r>
              <a:rPr lang="en-US" dirty="0"/>
              <a:t> </a:t>
            </a:r>
            <a:r>
              <a:rPr lang="en-US" dirty="0" err="1"/>
              <a:t>toàn</a:t>
            </a:r>
            <a:r>
              <a:rPr lang="en-US" dirty="0"/>
              <a:t> </a:t>
            </a:r>
            <a:r>
              <a:rPr lang="en-US" dirty="0" err="1"/>
              <a:t>bộ</a:t>
            </a:r>
            <a:r>
              <a:rPr lang="en-US" dirty="0"/>
              <a:t> code </a:t>
            </a:r>
            <a:r>
              <a:rPr lang="en-US" dirty="0" err="1"/>
              <a:t>trong</a:t>
            </a:r>
            <a:r>
              <a:rPr lang="en-US" dirty="0"/>
              <a:t> </a:t>
            </a:r>
            <a:r>
              <a:rPr lang="en-US" dirty="0" err="1"/>
              <a:t>hàm</a:t>
            </a:r>
            <a:r>
              <a:rPr lang="en-US" dirty="0"/>
              <a:t> Draw </a:t>
            </a:r>
            <a:r>
              <a:rPr lang="en-US" dirty="0" err="1"/>
              <a:t>để</a:t>
            </a:r>
            <a:r>
              <a:rPr lang="en-US" dirty="0"/>
              <a:t> </a:t>
            </a:r>
            <a:r>
              <a:rPr lang="en-US" dirty="0" err="1"/>
              <a:t>vẽ</a:t>
            </a:r>
            <a:r>
              <a:rPr lang="en-US" dirty="0"/>
              <a:t> </a:t>
            </a:r>
            <a:r>
              <a:rPr lang="en-US" dirty="0" err="1"/>
              <a:t>lại</a:t>
            </a:r>
            <a:r>
              <a:rPr lang="en-US" dirty="0"/>
              <a:t> </a:t>
            </a:r>
            <a:r>
              <a:rPr lang="en-US" dirty="0" err="1"/>
              <a:t>từ</a:t>
            </a:r>
            <a:r>
              <a:rPr lang="en-US" dirty="0"/>
              <a:t> </a:t>
            </a:r>
            <a:r>
              <a:rPr lang="en-US" dirty="0" err="1"/>
              <a:t>đầu</a:t>
            </a:r>
            <a:r>
              <a:rPr lang="en-US" dirty="0"/>
              <a:t>.</a:t>
            </a:r>
            <a:endParaRPr lang="en-US" dirty="0">
              <a:solidFill>
                <a:srgbClr val="444444"/>
              </a:solidFill>
            </a:endParaRPr>
          </a:p>
          <a:p>
            <a:endParaRPr lang="en-US" dirty="0">
              <a:solidFill>
                <a:srgbClr val="444444"/>
              </a:solidFill>
            </a:endParaRPr>
          </a:p>
          <a:p>
            <a:endParaRPr lang="en-US" dirty="0">
              <a:latin typeface="Calibri"/>
              <a:ea typeface="Calibri"/>
              <a:cs typeface="Calibri"/>
            </a:endParaRPr>
          </a:p>
          <a:p>
            <a:pPr lvl="1" indent="-171450">
              <a:buFont typeface="Arial"/>
              <a:buChar char="•"/>
            </a:pPr>
            <a:endParaRPr lang="en-US" dirty="0">
              <a:latin typeface="Calibri"/>
              <a:ea typeface="Calibri"/>
              <a:cs typeface="Calibri"/>
            </a:endParaRPr>
          </a:p>
          <a:p>
            <a:pPr lvl="1" indent="-171450">
              <a:buFont typeface="Arial"/>
              <a:buChar char="•"/>
            </a:pPr>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4D30B223-6EA9-0A3B-F70A-3F65C33FB364}"/>
              </a:ext>
            </a:extLst>
          </p:cNvPr>
          <p:cNvSpPr>
            <a:spLocks noGrp="1"/>
          </p:cNvSpPr>
          <p:nvPr>
            <p:ph type="sldNum" sz="quarter" idx="5"/>
          </p:nvPr>
        </p:nvSpPr>
        <p:spPr/>
        <p:txBody>
          <a:bodyPr/>
          <a:lstStyle/>
          <a:p>
            <a:fld id="{1ABA206C-4022-4CC0-8E55-736A0C024E77}" type="slidenum">
              <a:rPr lang="en-US"/>
              <a:t>8</a:t>
            </a:fld>
            <a:endParaRPr lang="en-US"/>
          </a:p>
        </p:txBody>
      </p:sp>
    </p:spTree>
    <p:extLst>
      <p:ext uri="{BB962C8B-B14F-4D97-AF65-F5344CB8AC3E}">
        <p14:creationId xmlns:p14="http://schemas.microsoft.com/office/powerpoint/2010/main" val="34333596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7466F-B2EB-B4B0-432C-91D3707F5FAA}"/>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273B50EA-5916-5776-2FA0-9F6ACD7F44B7}"/>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6096B73C-B537-2EF1-11DA-8381317133B3}"/>
              </a:ext>
            </a:extLst>
          </p:cNvPr>
          <p:cNvSpPr>
            <a:spLocks noGrp="1"/>
          </p:cNvSpPr>
          <p:nvPr>
            <p:ph type="body" idx="1"/>
          </p:nvPr>
        </p:nvSpPr>
        <p:spPr/>
        <p:txBody>
          <a:bodyPr/>
          <a:lstStyle/>
          <a:p>
            <a:r>
              <a:rPr lang="en-US" b="1" dirty="0">
                <a:latin typeface="Calibri"/>
                <a:ea typeface="Calibri"/>
                <a:cs typeface="Calibri"/>
              </a:rPr>
              <a:t>Các </a:t>
            </a:r>
            <a:r>
              <a:rPr lang="en-US" b="1" dirty="0" err="1">
                <a:latin typeface="Calibri"/>
                <a:ea typeface="Calibri"/>
                <a:cs typeface="Calibri"/>
              </a:rPr>
              <a:t>khái</a:t>
            </a:r>
            <a:r>
              <a:rPr lang="en-US" b="1" dirty="0">
                <a:latin typeface="Calibri"/>
                <a:ea typeface="Calibri"/>
                <a:cs typeface="Calibri"/>
              </a:rPr>
              <a:t> </a:t>
            </a:r>
            <a:r>
              <a:rPr lang="en-US" b="1" dirty="0" err="1">
                <a:latin typeface="Calibri"/>
                <a:ea typeface="Calibri"/>
                <a:cs typeface="Calibri"/>
              </a:rPr>
              <a:t>niệm</a:t>
            </a:r>
            <a:r>
              <a:rPr lang="en-US" b="1" dirty="0">
                <a:latin typeface="Calibri"/>
                <a:ea typeface="Calibri"/>
                <a:cs typeface="Calibri"/>
              </a:rPr>
              <a:t> </a:t>
            </a:r>
            <a:r>
              <a:rPr lang="en-US" b="1" dirty="0" err="1">
                <a:latin typeface="Calibri"/>
                <a:ea typeface="Calibri"/>
                <a:cs typeface="Calibri"/>
              </a:rPr>
              <a:t>liên</a:t>
            </a:r>
            <a:r>
              <a:rPr lang="en-US" b="1" dirty="0">
                <a:latin typeface="Calibri"/>
                <a:ea typeface="Calibri"/>
                <a:cs typeface="Calibri"/>
              </a:rPr>
              <a:t> </a:t>
            </a:r>
            <a:r>
              <a:rPr lang="en-US" b="1" dirty="0" err="1">
                <a:latin typeface="Calibri"/>
                <a:ea typeface="Calibri"/>
                <a:cs typeface="Calibri"/>
              </a:rPr>
              <a:t>quan</a:t>
            </a:r>
            <a:r>
              <a:rPr lang="en-US" b="1" dirty="0">
                <a:latin typeface="Calibri"/>
                <a:ea typeface="Calibri"/>
                <a:cs typeface="Calibri"/>
              </a:rPr>
              <a:t>:</a:t>
            </a:r>
            <a:br>
              <a:rPr lang="en-US" b="1" dirty="0">
                <a:latin typeface="Calibri"/>
                <a:ea typeface="Calibri"/>
                <a:cs typeface="Calibri"/>
              </a:rPr>
            </a:br>
            <a:r>
              <a:rPr lang="en-US" b="1" dirty="0">
                <a:ea typeface="Calibri"/>
                <a:cs typeface="Calibri"/>
              </a:rPr>
              <a:t>- </a:t>
            </a:r>
            <a:r>
              <a:rPr lang="en-US" b="1" dirty="0" err="1">
                <a:ea typeface="Calibri"/>
                <a:cs typeface="Calibri"/>
              </a:rPr>
              <a:t>CanvasDevice</a:t>
            </a:r>
            <a:r>
              <a:rPr lang="en-US" b="1" dirty="0">
                <a:ea typeface="Calibri"/>
                <a:cs typeface="Calibri"/>
              </a:rPr>
              <a:t>:</a:t>
            </a:r>
          </a:p>
          <a:p>
            <a:endParaRPr lang="en-US" b="1" dirty="0"/>
          </a:p>
          <a:p>
            <a:r>
              <a:rPr lang="en-US" b="1" dirty="0"/>
              <a:t>- </a:t>
            </a:r>
            <a:r>
              <a:rPr lang="en-US" b="1" dirty="0" err="1"/>
              <a:t>CanvasBitmap</a:t>
            </a:r>
            <a:r>
              <a:rPr lang="en-US" b="1" dirty="0"/>
              <a:t>:</a:t>
            </a:r>
            <a:endParaRPr lang="en-US" b="1" dirty="0">
              <a:ea typeface="Calibri"/>
              <a:cs typeface="Calibri"/>
            </a:endParaRPr>
          </a:p>
          <a:p>
            <a:endParaRPr lang="en-US" b="1" dirty="0">
              <a:ea typeface="Calibri"/>
              <a:cs typeface="Calibri"/>
            </a:endParaRPr>
          </a:p>
          <a:p>
            <a:r>
              <a:rPr lang="en-US" b="1" dirty="0"/>
              <a:t>- </a:t>
            </a:r>
            <a:r>
              <a:rPr lang="en-US" b="1" dirty="0" err="1"/>
              <a:t>CanvasRenderTarget</a:t>
            </a:r>
            <a:r>
              <a:rPr lang="en-US" b="1" dirty="0"/>
              <a:t>:</a:t>
            </a:r>
            <a:endParaRPr lang="en-US" dirty="0">
              <a:ea typeface="Calibri" panose="020F0502020204030204"/>
              <a:cs typeface="Calibri" panose="020F0502020204030204"/>
            </a:endParaRPr>
          </a:p>
          <a:p>
            <a:endParaRPr lang="en-US" b="1" dirty="0">
              <a:ea typeface="Calibri"/>
              <a:cs typeface="Calibri"/>
            </a:endParaRPr>
          </a:p>
          <a:p>
            <a:r>
              <a:rPr lang="en-US" b="1" dirty="0"/>
              <a:t>- </a:t>
            </a:r>
            <a:r>
              <a:rPr lang="en-US" b="1" dirty="0" err="1"/>
              <a:t>CanvasDrawingSession</a:t>
            </a:r>
            <a:r>
              <a:rPr lang="en-US" b="1" dirty="0"/>
              <a:t>:</a:t>
            </a:r>
            <a:endParaRPr lang="en-US" b="1" dirty="0">
              <a:ea typeface="Calibri"/>
              <a:cs typeface="Calibri"/>
            </a:endParaRPr>
          </a:p>
          <a:p>
            <a:endParaRPr lang="en-US" b="1" dirty="0">
              <a:ea typeface="Calibri"/>
              <a:cs typeface="Calibri"/>
            </a:endParaRPr>
          </a:p>
        </p:txBody>
      </p:sp>
      <p:sp>
        <p:nvSpPr>
          <p:cNvPr id="4" name="Chỗ dành sẵn cho Số hiệu Bản chiếu 3">
            <a:extLst>
              <a:ext uri="{FF2B5EF4-FFF2-40B4-BE49-F238E27FC236}">
                <a16:creationId xmlns:a16="http://schemas.microsoft.com/office/drawing/2014/main" id="{8F768ACA-D61D-BBCF-0085-9E19E93CDA94}"/>
              </a:ext>
            </a:extLst>
          </p:cNvPr>
          <p:cNvSpPr>
            <a:spLocks noGrp="1"/>
          </p:cNvSpPr>
          <p:nvPr>
            <p:ph type="sldNum" sz="quarter" idx="5"/>
          </p:nvPr>
        </p:nvSpPr>
        <p:spPr/>
        <p:txBody>
          <a:bodyPr/>
          <a:lstStyle/>
          <a:p>
            <a:fld id="{1ABA206C-4022-4CC0-8E55-736A0C024E77}" type="slidenum">
              <a:rPr lang="vi-VN"/>
              <a:t>9</a:t>
            </a:fld>
            <a:endParaRPr lang="vi-VN"/>
          </a:p>
        </p:txBody>
      </p:sp>
    </p:spTree>
    <p:extLst>
      <p:ext uri="{BB962C8B-B14F-4D97-AF65-F5344CB8AC3E}">
        <p14:creationId xmlns:p14="http://schemas.microsoft.com/office/powerpoint/2010/main" val="6377794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198E4-F442-8420-E261-15330917A38B}"/>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05DA87A9-D4FD-5362-D490-0F59E20ACE94}"/>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4EA3DC08-BCAC-F01A-C97E-C00444CF631C}"/>
              </a:ext>
            </a:extLst>
          </p:cNvPr>
          <p:cNvSpPr>
            <a:spLocks noGrp="1"/>
          </p:cNvSpPr>
          <p:nvPr>
            <p:ph type="body" idx="1"/>
          </p:nvPr>
        </p:nvSpPr>
        <p:spPr/>
        <p:txBody>
          <a:bodyPr/>
          <a:lstStyle/>
          <a:p>
            <a:endParaRPr lang="en-US" b="1" dirty="0">
              <a:ea typeface="Calibri" panose="020F0502020204030204"/>
              <a:cs typeface="+mn-lt"/>
            </a:endParaRPr>
          </a:p>
        </p:txBody>
      </p:sp>
      <p:sp>
        <p:nvSpPr>
          <p:cNvPr id="4" name="Chỗ dành sẵn cho Số hiệu Bản chiếu 3">
            <a:extLst>
              <a:ext uri="{FF2B5EF4-FFF2-40B4-BE49-F238E27FC236}">
                <a16:creationId xmlns:a16="http://schemas.microsoft.com/office/drawing/2014/main" id="{62A5D730-0BB5-ACEA-997E-D22F4CEC2380}"/>
              </a:ext>
            </a:extLst>
          </p:cNvPr>
          <p:cNvSpPr>
            <a:spLocks noGrp="1"/>
          </p:cNvSpPr>
          <p:nvPr>
            <p:ph type="sldNum" sz="quarter" idx="5"/>
          </p:nvPr>
        </p:nvSpPr>
        <p:spPr/>
        <p:txBody>
          <a:bodyPr/>
          <a:lstStyle/>
          <a:p>
            <a:fld id="{1ABA206C-4022-4CC0-8E55-736A0C024E77}" type="slidenum">
              <a:rPr lang="vi-VN"/>
              <a:t>11</a:t>
            </a:fld>
            <a:endParaRPr lang="vi-VN"/>
          </a:p>
        </p:txBody>
      </p:sp>
    </p:spTree>
    <p:extLst>
      <p:ext uri="{BB962C8B-B14F-4D97-AF65-F5344CB8AC3E}">
        <p14:creationId xmlns:p14="http://schemas.microsoft.com/office/powerpoint/2010/main" val="3576732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support.microsoft.com/en-us/windows/what-is-hdr-in-windows-f5fbf5cb-149d-4a0d-8be1-9ed78c68d3b4" TargetMode="External"/><Relationship Id="rId2" Type="http://schemas.openxmlformats.org/officeDocument/2006/relationships/hyperlink" Target="https://learn.microsoft.com/en-us/windows/apps/develop/win2d" TargetMode="External"/><Relationship Id="rId1" Type="http://schemas.openxmlformats.org/officeDocument/2006/relationships/slideLayout" Target="../slideLayouts/slideLayout2.xml"/><Relationship Id="rId5" Type="http://schemas.openxmlformats.org/officeDocument/2006/relationships/hyperlink" Target="https://microsoft.github.io/Win2D/WinUI3/html/T_Microsoft_Graphics_Canvas_UI_Xaml_CanvasSwapChainPanel.htm" TargetMode="External"/><Relationship Id="rId4" Type="http://schemas.openxmlformats.org/officeDocument/2006/relationships/hyperlink" Target="https://viblo.asia/p/gpu-ve-len-man-hinh-nhu-the-nao-GAWVpOmZL0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Studio </a:t>
            </a:r>
            <a:r>
              <a:rPr lang="en-US"/>
              <a:t> Preview</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r>
              <a:rPr lang="en-US"/>
              <a:t>Vuong</a:t>
            </a:r>
            <a:r>
              <a:rPr lang="en-US" dirty="0"/>
              <a:t> Quoc Anh </a:t>
            </a:r>
            <a:endParaRPr lang="vi-VN" dirty="0">
              <a:cs typeface="Arial" panose="020B0604020202020204" pitchFamily="34" charset="0"/>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BD4D58B-D8E1-D0DA-F767-7985B4311099}"/>
              </a:ext>
            </a:extLst>
          </p:cNvPr>
          <p:cNvSpPr>
            <a:spLocks noGrp="1"/>
          </p:cNvSpPr>
          <p:nvPr>
            <p:ph type="title"/>
          </p:nvPr>
        </p:nvSpPr>
        <p:spPr/>
        <p:txBody>
          <a:bodyPr/>
          <a:lstStyle/>
          <a:p>
            <a:r>
              <a:rPr lang="vi-VN">
                <a:latin typeface="Times New Roman"/>
                <a:cs typeface="Times New Roman"/>
              </a:rPr>
              <a:t>Background</a:t>
            </a:r>
            <a:endParaRPr lang="vi-VN"/>
          </a:p>
        </p:txBody>
      </p:sp>
      <p:sp>
        <p:nvSpPr>
          <p:cNvPr id="3" name="Chỗ dành sẵn cho Nội dung 2">
            <a:extLst>
              <a:ext uri="{FF2B5EF4-FFF2-40B4-BE49-F238E27FC236}">
                <a16:creationId xmlns:a16="http://schemas.microsoft.com/office/drawing/2014/main" id="{BC9AA98A-72C8-B31C-E293-818E02A9F542}"/>
              </a:ext>
            </a:extLst>
          </p:cNvPr>
          <p:cNvSpPr>
            <a:spLocks noGrp="1"/>
          </p:cNvSpPr>
          <p:nvPr>
            <p:ph idx="1"/>
          </p:nvPr>
        </p:nvSpPr>
        <p:spPr/>
        <p:txBody>
          <a:bodyPr vert="horz" lIns="91440" tIns="45720" rIns="91440" bIns="45720" rtlCol="0" anchor="t">
            <a:normAutofit/>
          </a:bodyPr>
          <a:lstStyle/>
          <a:p>
            <a:r>
              <a:rPr lang="vi-VN">
                <a:latin typeface="Arial"/>
                <a:cs typeface="Arial"/>
              </a:rPr>
              <a:t>Preview là tính năng chính quan trọng trong dự án Studio</a:t>
            </a:r>
            <a:endParaRPr lang="en-US"/>
          </a:p>
          <a:p>
            <a:r>
              <a:rPr lang="vi-VN">
                <a:latin typeface="Arial"/>
                <a:cs typeface="Arial"/>
              </a:rPr>
              <a:t>Sắp tới có nhiều feature mới liên quan tới Preview</a:t>
            </a:r>
          </a:p>
          <a:p>
            <a:endParaRPr lang="vi-VN" dirty="0">
              <a:latin typeface="Arial"/>
              <a:cs typeface="Arial"/>
            </a:endParaRPr>
          </a:p>
          <a:p>
            <a:pPr marL="0" indent="0">
              <a:buNone/>
            </a:pPr>
            <a:r>
              <a:rPr lang="vi-VN">
                <a:latin typeface="Arial"/>
                <a:cs typeface="Arial"/>
              </a:rPr>
              <a:t>==&gt; Cần tìm hiểu rõ về:</a:t>
            </a:r>
          </a:p>
          <a:p>
            <a:r>
              <a:rPr lang="vi-VN">
                <a:latin typeface="Arial"/>
                <a:cs typeface="Arial"/>
              </a:rPr>
              <a:t>Quá trình hiển thị hình ảnh lên màn hình</a:t>
            </a:r>
            <a:endParaRPr lang="vi-VN"/>
          </a:p>
          <a:p>
            <a:r>
              <a:rPr lang="vi-VN">
                <a:latin typeface="Arial"/>
                <a:cs typeface="Arial"/>
              </a:rPr>
              <a:t>Cách hoạt động Preview hiện </a:t>
            </a:r>
            <a:r>
              <a:rPr lang="vi-VN" dirty="0">
                <a:latin typeface="Arial"/>
                <a:cs typeface="Arial"/>
              </a:rPr>
              <a:t>tại của Studio</a:t>
            </a:r>
            <a:endParaRPr lang="vi-VN">
              <a:cs typeface="Arial" panose="020B0604020202020204" pitchFamily="34" charset="0"/>
            </a:endParaRPr>
          </a:p>
        </p:txBody>
      </p:sp>
    </p:spTree>
    <p:extLst>
      <p:ext uri="{BB962C8B-B14F-4D97-AF65-F5344CB8AC3E}">
        <p14:creationId xmlns:p14="http://schemas.microsoft.com/office/powerpoint/2010/main" val="1558390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5654340-A503-5A57-496D-947D13E794EE}"/>
              </a:ext>
            </a:extLst>
          </p:cNvPr>
          <p:cNvSpPr>
            <a:spLocks noGrp="1"/>
          </p:cNvSpPr>
          <p:nvPr>
            <p:ph type="title"/>
          </p:nvPr>
        </p:nvSpPr>
        <p:spPr/>
        <p:txBody>
          <a:bodyPr/>
          <a:lstStyle/>
          <a:p>
            <a:r>
              <a:rPr lang="vi-VN">
                <a:latin typeface="Times New Roman"/>
                <a:cs typeface="Times New Roman"/>
              </a:rPr>
              <a:t>Outline</a:t>
            </a:r>
            <a:endParaRPr lang="vi-VN" dirty="0">
              <a:latin typeface="Times New Roman"/>
              <a:cs typeface="Times New Roman"/>
            </a:endParaRPr>
          </a:p>
        </p:txBody>
      </p:sp>
      <p:sp>
        <p:nvSpPr>
          <p:cNvPr id="3" name="Chỗ dành sẵn cho Nội dung 2">
            <a:extLst>
              <a:ext uri="{FF2B5EF4-FFF2-40B4-BE49-F238E27FC236}">
                <a16:creationId xmlns:a16="http://schemas.microsoft.com/office/drawing/2014/main" id="{0743B98E-AAAF-4F67-6CC5-572AD2F22668}"/>
              </a:ext>
            </a:extLst>
          </p:cNvPr>
          <p:cNvSpPr>
            <a:spLocks noGrp="1"/>
          </p:cNvSpPr>
          <p:nvPr>
            <p:ph idx="1"/>
          </p:nvPr>
        </p:nvSpPr>
        <p:spPr/>
        <p:txBody>
          <a:bodyPr vert="horz" lIns="91440" tIns="45720" rIns="91440" bIns="45720" rtlCol="0" anchor="t">
            <a:normAutofit/>
          </a:bodyPr>
          <a:lstStyle/>
          <a:p>
            <a:r>
              <a:rPr lang="vi-VN">
                <a:latin typeface="Arial"/>
                <a:cs typeface="Arial"/>
              </a:rPr>
              <a:t>Image Render Flow</a:t>
            </a:r>
            <a:endParaRPr lang="vi-VN" dirty="0">
              <a:latin typeface="Arial"/>
              <a:cs typeface="Arial"/>
            </a:endParaRPr>
          </a:p>
          <a:p>
            <a:r>
              <a:rPr lang="vi-VN">
                <a:latin typeface="Arial"/>
                <a:cs typeface="Arial"/>
              </a:rPr>
              <a:t>Studio Preview</a:t>
            </a:r>
            <a:endParaRPr lang="vi-VN" dirty="0">
              <a:latin typeface="Arial"/>
              <a:cs typeface="Arial"/>
            </a:endParaRPr>
          </a:p>
          <a:p>
            <a:endParaRPr lang="vi-VN" dirty="0">
              <a:latin typeface="Arial"/>
              <a:cs typeface="Arial"/>
            </a:endParaRPr>
          </a:p>
          <a:p>
            <a:r>
              <a:rPr lang="vi-VN">
                <a:latin typeface="Arial"/>
                <a:cs typeface="Arial"/>
              </a:rPr>
              <a:t>Next steps</a:t>
            </a:r>
          </a:p>
          <a:p>
            <a:r>
              <a:rPr lang="vi-VN">
                <a:latin typeface="Arial"/>
                <a:cs typeface="Arial"/>
              </a:rPr>
              <a:t>References</a:t>
            </a:r>
            <a:endParaRPr lang="vi-VN" i="1" dirty="0">
              <a:latin typeface="Arial"/>
              <a:cs typeface="Arial"/>
            </a:endParaRPr>
          </a:p>
        </p:txBody>
      </p:sp>
    </p:spTree>
    <p:extLst>
      <p:ext uri="{BB962C8B-B14F-4D97-AF65-F5344CB8AC3E}">
        <p14:creationId xmlns:p14="http://schemas.microsoft.com/office/powerpoint/2010/main" val="147535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DFD7071D-B5FE-1F60-5D44-7103F1BAA784}"/>
              </a:ext>
            </a:extLst>
          </p:cNvPr>
          <p:cNvSpPr>
            <a:spLocks noGrp="1"/>
          </p:cNvSpPr>
          <p:nvPr>
            <p:ph type="title"/>
          </p:nvPr>
        </p:nvSpPr>
        <p:spPr/>
        <p:txBody>
          <a:bodyPr/>
          <a:lstStyle/>
          <a:p>
            <a:r>
              <a:rPr lang="vi-VN">
                <a:latin typeface="Times New Roman"/>
                <a:cs typeface="Times New Roman"/>
              </a:rPr>
              <a:t>Image Render Flow</a:t>
            </a:r>
            <a:endParaRPr lang="vi-VN"/>
          </a:p>
        </p:txBody>
      </p:sp>
      <p:sp>
        <p:nvSpPr>
          <p:cNvPr id="6" name="Content Placeholder 2">
            <a:extLst>
              <a:ext uri="{FF2B5EF4-FFF2-40B4-BE49-F238E27FC236}">
                <a16:creationId xmlns:a16="http://schemas.microsoft.com/office/drawing/2014/main" id="{0C30895E-FA1E-1F5A-470C-B8FBBA7D3A34}"/>
              </a:ext>
            </a:extLst>
          </p:cNvPr>
          <p:cNvSpPr>
            <a:spLocks noGrp="1"/>
          </p:cNvSpPr>
          <p:nvPr>
            <p:ph idx="1"/>
          </p:nvPr>
        </p:nvSpPr>
        <p:spPr>
          <a:xfrm>
            <a:off x="4978280" y="4472089"/>
            <a:ext cx="2023300" cy="362398"/>
          </a:xfrm>
        </p:spPr>
        <p:txBody>
          <a:bodyPr vert="horz" lIns="91440" tIns="45720" rIns="91440" bIns="45720" rtlCol="0" anchor="t">
            <a:normAutofit/>
          </a:bodyPr>
          <a:lstStyle/>
          <a:p>
            <a:pPr marL="0" indent="0">
              <a:buNone/>
            </a:pPr>
            <a:r>
              <a:rPr lang="en-US" sz="1800" i="1" dirty="0"/>
              <a:t>Image render flow</a:t>
            </a:r>
            <a:endParaRPr lang="vi-VN" sz="1800" i="1" dirty="0">
              <a:latin typeface="Arial"/>
              <a:cs typeface="Arial"/>
            </a:endParaRPr>
          </a:p>
        </p:txBody>
      </p:sp>
      <p:pic>
        <p:nvPicPr>
          <p:cNvPr id="5" name="Picture 4" descr="A black and white background with text&#10;&#10;AI-generated content may be incorrect.">
            <a:extLst>
              <a:ext uri="{FF2B5EF4-FFF2-40B4-BE49-F238E27FC236}">
                <a16:creationId xmlns:a16="http://schemas.microsoft.com/office/drawing/2014/main" id="{EB8424F4-ABB9-536F-55B7-86E192B702FC}"/>
              </a:ext>
            </a:extLst>
          </p:cNvPr>
          <p:cNvPicPr>
            <a:picLocks noChangeAspect="1"/>
          </p:cNvPicPr>
          <p:nvPr/>
        </p:nvPicPr>
        <p:blipFill>
          <a:blip r:embed="rId3"/>
          <a:stretch>
            <a:fillRect/>
          </a:stretch>
        </p:blipFill>
        <p:spPr>
          <a:xfrm>
            <a:off x="233643" y="2920813"/>
            <a:ext cx="11511802" cy="1016373"/>
          </a:xfrm>
          <a:prstGeom prst="rect">
            <a:avLst/>
          </a:prstGeom>
        </p:spPr>
      </p:pic>
    </p:spTree>
    <p:extLst>
      <p:ext uri="{BB962C8B-B14F-4D97-AF65-F5344CB8AC3E}">
        <p14:creationId xmlns:p14="http://schemas.microsoft.com/office/powerpoint/2010/main" val="3693653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F50D4-CABA-DD45-29AD-073858D73E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2DE162-C177-2165-37F7-0CF5461AEBA5}"/>
              </a:ext>
            </a:extLst>
          </p:cNvPr>
          <p:cNvSpPr>
            <a:spLocks noGrp="1"/>
          </p:cNvSpPr>
          <p:nvPr>
            <p:ph type="title"/>
          </p:nvPr>
        </p:nvSpPr>
        <p:spPr/>
        <p:txBody>
          <a:bodyPr/>
          <a:lstStyle/>
          <a:p>
            <a:r>
              <a:rPr lang="en-US"/>
              <a:t>Studio Preview</a:t>
            </a:r>
          </a:p>
        </p:txBody>
      </p:sp>
      <p:sp>
        <p:nvSpPr>
          <p:cNvPr id="8" name="TextBox 7">
            <a:extLst>
              <a:ext uri="{FF2B5EF4-FFF2-40B4-BE49-F238E27FC236}">
                <a16:creationId xmlns:a16="http://schemas.microsoft.com/office/drawing/2014/main" id="{29677326-345E-B504-611A-1BE0F7776B39}"/>
              </a:ext>
            </a:extLst>
          </p:cNvPr>
          <p:cNvSpPr txBox="1"/>
          <p:nvPr/>
        </p:nvSpPr>
        <p:spPr>
          <a:xfrm>
            <a:off x="5166852" y="4659303"/>
            <a:ext cx="219993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t>Studio Preview Flow</a:t>
            </a:r>
          </a:p>
        </p:txBody>
      </p:sp>
      <p:pic>
        <p:nvPicPr>
          <p:cNvPr id="4" name="Picture 3" descr="A black background with white text&#10;&#10;AI-generated content may be incorrect.">
            <a:extLst>
              <a:ext uri="{FF2B5EF4-FFF2-40B4-BE49-F238E27FC236}">
                <a16:creationId xmlns:a16="http://schemas.microsoft.com/office/drawing/2014/main" id="{6153B110-66EE-4D50-8F27-5FDB2C39EAFD}"/>
              </a:ext>
            </a:extLst>
          </p:cNvPr>
          <p:cNvPicPr>
            <a:picLocks noChangeAspect="1"/>
          </p:cNvPicPr>
          <p:nvPr/>
        </p:nvPicPr>
        <p:blipFill>
          <a:blip r:embed="rId3"/>
          <a:stretch>
            <a:fillRect/>
          </a:stretch>
        </p:blipFill>
        <p:spPr>
          <a:xfrm>
            <a:off x="426665" y="2649071"/>
            <a:ext cx="11338671" cy="1559858"/>
          </a:xfrm>
          <a:prstGeom prst="rect">
            <a:avLst/>
          </a:prstGeom>
        </p:spPr>
      </p:pic>
    </p:spTree>
    <p:extLst>
      <p:ext uri="{BB962C8B-B14F-4D97-AF65-F5344CB8AC3E}">
        <p14:creationId xmlns:p14="http://schemas.microsoft.com/office/powerpoint/2010/main" val="4056719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CFA3D-5043-E51D-2862-BC756B24648A}"/>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60F72F97-FB12-004D-9CB6-E801A27D5D5C}"/>
              </a:ext>
            </a:extLst>
          </p:cNvPr>
          <p:cNvSpPr>
            <a:spLocks noGrp="1"/>
          </p:cNvSpPr>
          <p:nvPr>
            <p:ph type="title"/>
          </p:nvPr>
        </p:nvSpPr>
        <p:spPr/>
        <p:txBody>
          <a:bodyPr/>
          <a:lstStyle/>
          <a:p>
            <a:r>
              <a:rPr lang="vi-VN">
                <a:latin typeface="Times New Roman"/>
                <a:cs typeface="Times New Roman"/>
              </a:rPr>
              <a:t>Studio Preview</a:t>
            </a:r>
            <a:endParaRPr lang="vi-VN"/>
          </a:p>
        </p:txBody>
      </p:sp>
      <p:sp>
        <p:nvSpPr>
          <p:cNvPr id="3" name="Chỗ dành sẵn cho Nội dung 2">
            <a:extLst>
              <a:ext uri="{FF2B5EF4-FFF2-40B4-BE49-F238E27FC236}">
                <a16:creationId xmlns:a16="http://schemas.microsoft.com/office/drawing/2014/main" id="{25AF9E3B-A54E-33F8-EB2F-FD6E066E032A}"/>
              </a:ext>
            </a:extLst>
          </p:cNvPr>
          <p:cNvSpPr>
            <a:spLocks noGrp="1"/>
          </p:cNvSpPr>
          <p:nvPr>
            <p:ph idx="1"/>
          </p:nvPr>
        </p:nvSpPr>
        <p:spPr/>
        <p:txBody>
          <a:bodyPr vert="horz" lIns="91440" tIns="45720" rIns="91440" bIns="45720" rtlCol="0" anchor="t">
            <a:normAutofit/>
          </a:bodyPr>
          <a:lstStyle/>
          <a:p>
            <a:pPr marL="0" indent="0">
              <a:buNone/>
            </a:pPr>
            <a:r>
              <a:rPr lang="vi-VN" b="1" dirty="0">
                <a:latin typeface="Arial"/>
                <a:cs typeface="Arial"/>
              </a:rPr>
              <a:t>Bài toán Studio Preview: </a:t>
            </a:r>
            <a:r>
              <a:rPr lang="vi-VN" dirty="0">
                <a:latin typeface="Arial"/>
                <a:cs typeface="Arial"/>
              </a:rPr>
              <a:t>Cần hiển thị nhiều hình ảnh chồng </a:t>
            </a:r>
            <a:r>
              <a:rPr lang="vi-VN">
                <a:latin typeface="Arial"/>
                <a:cs typeface="Arial"/>
              </a:rPr>
              <a:t>chéo lên nhau trong 1 vùng hiển thị mà vẫn có thể tương tác di chuyển</a:t>
            </a:r>
            <a:r>
              <a:rPr lang="vi-VN" dirty="0">
                <a:latin typeface="Arial"/>
                <a:cs typeface="Arial"/>
              </a:rPr>
              <a:t> (mượt mà, không bị lag giật, vỡ hình)</a:t>
            </a:r>
          </a:p>
          <a:p>
            <a:pPr marL="0" indent="0">
              <a:buNone/>
            </a:pPr>
            <a:endParaRPr lang="vi-VN" dirty="0">
              <a:latin typeface="Arial"/>
              <a:cs typeface="Arial"/>
            </a:endParaRPr>
          </a:p>
          <a:p>
            <a:pPr marL="0" indent="0">
              <a:buNone/>
            </a:pPr>
            <a:r>
              <a:rPr lang="vi-VN" b="1">
                <a:latin typeface="Arial"/>
                <a:cs typeface="Arial"/>
              </a:rPr>
              <a:t>Đi tìm lời giải:</a:t>
            </a:r>
            <a:endParaRPr lang="vi-VN"/>
          </a:p>
          <a:p>
            <a:pPr marL="457200" indent="-457200"/>
            <a:r>
              <a:rPr lang="vi-VN">
                <a:latin typeface="Arial"/>
                <a:cs typeface="Arial"/>
              </a:rPr>
              <a:t>Dùng các Control thông thường để để hiện thị?</a:t>
            </a:r>
            <a:endParaRPr lang="vi-VN" b="1" dirty="0">
              <a:latin typeface="Arial"/>
              <a:cs typeface="Arial"/>
            </a:endParaRPr>
          </a:p>
          <a:p>
            <a:pPr marL="457200" indent="-457200"/>
            <a:r>
              <a:rPr lang="vi-VN">
                <a:latin typeface="Arial"/>
                <a:cs typeface="Arial"/>
              </a:rPr>
              <a:t>CanvasCantrol được chọn?</a:t>
            </a:r>
            <a:endParaRPr lang="vi-VN" dirty="0">
              <a:latin typeface="Arial"/>
              <a:cs typeface="Arial"/>
            </a:endParaRPr>
          </a:p>
          <a:p>
            <a:endParaRPr lang="vi-VN" dirty="0">
              <a:latin typeface="Arial"/>
              <a:cs typeface="Arial"/>
            </a:endParaRPr>
          </a:p>
          <a:p>
            <a:pPr marL="0" indent="0">
              <a:buNone/>
            </a:pPr>
            <a:endParaRPr lang="vi-VN" dirty="0">
              <a:latin typeface="Arial"/>
              <a:cs typeface="Arial"/>
            </a:endParaRPr>
          </a:p>
          <a:p>
            <a:endParaRPr lang="vi-VN" i="1" u="sng" dirty="0">
              <a:latin typeface="Arial"/>
              <a:cs typeface="Arial"/>
            </a:endParaRPr>
          </a:p>
        </p:txBody>
      </p:sp>
    </p:spTree>
    <p:extLst>
      <p:ext uri="{BB962C8B-B14F-4D97-AF65-F5344CB8AC3E}">
        <p14:creationId xmlns:p14="http://schemas.microsoft.com/office/powerpoint/2010/main" val="3129531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A2868-E33C-2FC5-C880-90BD266C99FE}"/>
              </a:ext>
            </a:extLst>
          </p:cNvPr>
          <p:cNvSpPr>
            <a:spLocks noGrp="1"/>
          </p:cNvSpPr>
          <p:nvPr>
            <p:ph type="title"/>
          </p:nvPr>
        </p:nvSpPr>
        <p:spPr/>
        <p:txBody>
          <a:bodyPr/>
          <a:lstStyle/>
          <a:p>
            <a:r>
              <a:rPr lang="en-US"/>
              <a:t>Render Normal Controls flow</a:t>
            </a:r>
          </a:p>
        </p:txBody>
      </p:sp>
      <p:sp>
        <p:nvSpPr>
          <p:cNvPr id="3" name="Content Placeholder 2">
            <a:extLst>
              <a:ext uri="{FF2B5EF4-FFF2-40B4-BE49-F238E27FC236}">
                <a16:creationId xmlns:a16="http://schemas.microsoft.com/office/drawing/2014/main" id="{D4D27D63-64D1-72FE-86C2-1CB87065B0CE}"/>
              </a:ext>
            </a:extLst>
          </p:cNvPr>
          <p:cNvSpPr>
            <a:spLocks noGrp="1"/>
          </p:cNvSpPr>
          <p:nvPr>
            <p:ph idx="1"/>
          </p:nvPr>
        </p:nvSpPr>
        <p:spPr>
          <a:xfrm>
            <a:off x="4299506" y="5639505"/>
            <a:ext cx="3018507" cy="372122"/>
          </a:xfrm>
        </p:spPr>
        <p:txBody>
          <a:bodyPr vert="horz" lIns="91440" tIns="45720" rIns="91440" bIns="45720" rtlCol="0" anchor="t">
            <a:normAutofit/>
          </a:bodyPr>
          <a:lstStyle/>
          <a:p>
            <a:pPr marL="0" indent="0">
              <a:buNone/>
            </a:pPr>
            <a:r>
              <a:rPr lang="en-US" sz="1800" i="1"/>
              <a:t>Render normal Controls flow</a:t>
            </a:r>
          </a:p>
        </p:txBody>
      </p:sp>
      <p:pic>
        <p:nvPicPr>
          <p:cNvPr id="5" name="Hình ảnh 4" descr="Ảnh có chứa văn bản, ảnh chụp màn hình, Phông chữ&#10;&#10;Nội dung do AI tạo ra có thể không chính xác.">
            <a:extLst>
              <a:ext uri="{FF2B5EF4-FFF2-40B4-BE49-F238E27FC236}">
                <a16:creationId xmlns:a16="http://schemas.microsoft.com/office/drawing/2014/main" id="{F2D2648A-D608-2270-AAEA-DF0231120A6E}"/>
              </a:ext>
            </a:extLst>
          </p:cNvPr>
          <p:cNvPicPr>
            <a:picLocks noChangeAspect="1"/>
          </p:cNvPicPr>
          <p:nvPr/>
        </p:nvPicPr>
        <p:blipFill>
          <a:blip r:embed="rId3"/>
          <a:stretch>
            <a:fillRect/>
          </a:stretch>
        </p:blipFill>
        <p:spPr>
          <a:xfrm>
            <a:off x="1243274" y="2073776"/>
            <a:ext cx="9120905" cy="3169737"/>
          </a:xfrm>
          <a:prstGeom prst="rect">
            <a:avLst/>
          </a:prstGeom>
        </p:spPr>
      </p:pic>
    </p:spTree>
    <p:extLst>
      <p:ext uri="{BB962C8B-B14F-4D97-AF65-F5344CB8AC3E}">
        <p14:creationId xmlns:p14="http://schemas.microsoft.com/office/powerpoint/2010/main" val="622592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9AC66-083A-EFD3-FEAB-8A9C17F773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CA85C5-3FAD-3D30-09F9-2F4CBE0B576A}"/>
              </a:ext>
            </a:extLst>
          </p:cNvPr>
          <p:cNvSpPr>
            <a:spLocks noGrp="1"/>
          </p:cNvSpPr>
          <p:nvPr>
            <p:ph type="title"/>
          </p:nvPr>
        </p:nvSpPr>
        <p:spPr/>
        <p:txBody>
          <a:bodyPr/>
          <a:lstStyle/>
          <a:p>
            <a:r>
              <a:rPr lang="en-US" dirty="0"/>
              <a:t>Render </a:t>
            </a:r>
            <a:r>
              <a:rPr lang="en-US" dirty="0" err="1"/>
              <a:t>CanvasControl</a:t>
            </a:r>
            <a:r>
              <a:rPr lang="en-US" dirty="0"/>
              <a:t> flow</a:t>
            </a:r>
          </a:p>
        </p:txBody>
      </p:sp>
      <p:sp>
        <p:nvSpPr>
          <p:cNvPr id="5" name="Hộp Văn bản 4">
            <a:extLst>
              <a:ext uri="{FF2B5EF4-FFF2-40B4-BE49-F238E27FC236}">
                <a16:creationId xmlns:a16="http://schemas.microsoft.com/office/drawing/2014/main" id="{C7637EA6-82EE-83FA-1401-15553869BB49}"/>
              </a:ext>
            </a:extLst>
          </p:cNvPr>
          <p:cNvSpPr txBox="1"/>
          <p:nvPr/>
        </p:nvSpPr>
        <p:spPr>
          <a:xfrm>
            <a:off x="4592876" y="5694124"/>
            <a:ext cx="300624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0" i="1" u="none" strike="noStrike" baseline="0" dirty="0">
                <a:solidFill>
                  <a:srgbClr val="000000"/>
                </a:solidFill>
                <a:latin typeface="Aptos"/>
              </a:rPr>
              <a:t>Render </a:t>
            </a:r>
            <a:r>
              <a:rPr lang="en-US" i="1" dirty="0" err="1">
                <a:solidFill>
                  <a:srgbClr val="000000"/>
                </a:solidFill>
                <a:latin typeface="Aptos"/>
              </a:rPr>
              <a:t>CanvasControl</a:t>
            </a:r>
            <a:r>
              <a:rPr lang="en-US" sz="1800" b="0" i="1" u="none" strike="noStrike" baseline="0" dirty="0">
                <a:solidFill>
                  <a:srgbClr val="000000"/>
                </a:solidFill>
                <a:latin typeface="Aptos"/>
              </a:rPr>
              <a:t> flow</a:t>
            </a:r>
            <a:r>
              <a:rPr sz="1800" b="0" i="0" dirty="0">
                <a:solidFill>
                  <a:srgbClr val="000000"/>
                </a:solidFill>
                <a:latin typeface="Aptos"/>
                <a:ea typeface="Aptos"/>
                <a:cs typeface="Aptos"/>
              </a:rPr>
              <a:t>​</a:t>
            </a:r>
            <a:endParaRPr lang="vi-VN" dirty="0"/>
          </a:p>
          <a:p>
            <a:pPr algn="ctr"/>
            <a:endParaRPr lang="vi-VN"/>
          </a:p>
        </p:txBody>
      </p:sp>
      <p:pic>
        <p:nvPicPr>
          <p:cNvPr id="3" name="Hình ảnh 2" descr="Ảnh có chứa văn bản, ảnh chụp màn hình, Phông chữ, số&#10;&#10;Nội dung do AI tạo ra có thể không chính xác.">
            <a:extLst>
              <a:ext uri="{FF2B5EF4-FFF2-40B4-BE49-F238E27FC236}">
                <a16:creationId xmlns:a16="http://schemas.microsoft.com/office/drawing/2014/main" id="{788B27AE-AF17-BD98-CA92-69E6E6670BD7}"/>
              </a:ext>
            </a:extLst>
          </p:cNvPr>
          <p:cNvPicPr>
            <a:picLocks noChangeAspect="1"/>
          </p:cNvPicPr>
          <p:nvPr/>
        </p:nvPicPr>
        <p:blipFill>
          <a:blip r:embed="rId3"/>
          <a:stretch>
            <a:fillRect/>
          </a:stretch>
        </p:blipFill>
        <p:spPr>
          <a:xfrm>
            <a:off x="453873" y="1995488"/>
            <a:ext cx="11284254" cy="3190614"/>
          </a:xfrm>
          <a:prstGeom prst="rect">
            <a:avLst/>
          </a:prstGeom>
        </p:spPr>
      </p:pic>
    </p:spTree>
    <p:extLst>
      <p:ext uri="{BB962C8B-B14F-4D97-AF65-F5344CB8AC3E}">
        <p14:creationId xmlns:p14="http://schemas.microsoft.com/office/powerpoint/2010/main" val="2221675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BCE81AD-BF42-38F5-A7A7-0FC7C7A90050}"/>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871D396B-C6DA-72F8-6562-D10686370B9D}"/>
              </a:ext>
            </a:extLst>
          </p:cNvPr>
          <p:cNvSpPr>
            <a:spLocks noGrp="1"/>
          </p:cNvSpPr>
          <p:nvPr>
            <p:ph type="title"/>
          </p:nvPr>
        </p:nvSpPr>
        <p:spPr/>
        <p:txBody>
          <a:bodyPr/>
          <a:lstStyle/>
          <a:p>
            <a:r>
              <a:rPr lang="vi-VN">
                <a:latin typeface="Times New Roman"/>
                <a:cs typeface="Times New Roman"/>
              </a:rPr>
              <a:t>Sample code 1: CanvasControl simple sample</a:t>
            </a:r>
            <a:endParaRPr lang="vi-VN"/>
          </a:p>
        </p:txBody>
      </p:sp>
      <p:sp>
        <p:nvSpPr>
          <p:cNvPr id="3" name="Chỗ dành sẵn cho Nội dung 2">
            <a:extLst>
              <a:ext uri="{FF2B5EF4-FFF2-40B4-BE49-F238E27FC236}">
                <a16:creationId xmlns:a16="http://schemas.microsoft.com/office/drawing/2014/main" id="{929DF6EC-903B-39DF-5D7F-7AC5D96687FA}"/>
              </a:ext>
            </a:extLst>
          </p:cNvPr>
          <p:cNvSpPr>
            <a:spLocks noGrp="1"/>
          </p:cNvSpPr>
          <p:nvPr>
            <p:ph idx="1"/>
          </p:nvPr>
        </p:nvSpPr>
        <p:spPr/>
        <p:txBody>
          <a:bodyPr vert="horz" lIns="91440" tIns="45720" rIns="91440" bIns="45720" rtlCol="0" anchor="t">
            <a:normAutofit/>
          </a:bodyPr>
          <a:lstStyle/>
          <a:p>
            <a:pPr marL="457200" indent="-457200">
              <a:buFont typeface="Calibri" panose="020B0604020202020204" pitchFamily="34" charset="0"/>
              <a:buChar char="-"/>
            </a:pPr>
            <a:r>
              <a:rPr lang="vi-VN">
                <a:latin typeface="Arial"/>
                <a:cs typeface="Arial"/>
              </a:rPr>
              <a:t>Preview an image using CanvasControl</a:t>
            </a:r>
            <a:endParaRPr lang="vi-VN" dirty="0">
              <a:latin typeface="Arial"/>
              <a:cs typeface="Arial"/>
            </a:endParaRPr>
          </a:p>
          <a:p>
            <a:pPr marL="457200" indent="-457200">
              <a:buFont typeface="Calibri" panose="020B0604020202020204" pitchFamily="34" charset="0"/>
              <a:buChar char="-"/>
            </a:pPr>
            <a:r>
              <a:rPr lang="vi-VN">
                <a:latin typeface="Arial"/>
                <a:cs typeface="Arial"/>
              </a:rPr>
              <a:t>Remember to Clear (when use CanvasRenderTarget)</a:t>
            </a:r>
            <a:endParaRPr lang="vi-VN" dirty="0">
              <a:latin typeface="Arial"/>
              <a:cs typeface="Arial"/>
            </a:endParaRPr>
          </a:p>
          <a:p>
            <a:pPr marL="457200" indent="-457200">
              <a:buFont typeface="Calibri" panose="020B0604020202020204" pitchFamily="34" charset="0"/>
              <a:buChar char="-"/>
            </a:pPr>
            <a:r>
              <a:rPr lang="vi-VN">
                <a:latin typeface="Arial"/>
                <a:cs typeface="Arial"/>
              </a:rPr>
              <a:t>Avoid memory leak</a:t>
            </a:r>
            <a:endParaRPr lang="vi-VN" dirty="0">
              <a:latin typeface="Arial"/>
              <a:cs typeface="Arial"/>
            </a:endParaRPr>
          </a:p>
          <a:p>
            <a:pPr marL="0" indent="0">
              <a:buNone/>
            </a:pPr>
            <a:endParaRPr lang="vi-VN" dirty="0">
              <a:latin typeface="Arial"/>
              <a:cs typeface="Arial"/>
            </a:endParaRPr>
          </a:p>
          <a:p>
            <a:pPr>
              <a:buFont typeface="Calibri" panose="020B0604020202020204" pitchFamily="34" charset="0"/>
              <a:buChar char="-"/>
            </a:pPr>
            <a:endParaRPr lang="vi-VN" i="1" u="sng" dirty="0">
              <a:latin typeface="Arial"/>
              <a:cs typeface="Arial"/>
            </a:endParaRPr>
          </a:p>
        </p:txBody>
      </p:sp>
    </p:spTree>
    <p:extLst>
      <p:ext uri="{BB962C8B-B14F-4D97-AF65-F5344CB8AC3E}">
        <p14:creationId xmlns:p14="http://schemas.microsoft.com/office/powerpoint/2010/main" val="2149638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B0077-7D5E-9034-0ABB-A38C89999431}"/>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453F479F-8AF8-F256-83C9-E0794A731268}"/>
              </a:ext>
            </a:extLst>
          </p:cNvPr>
          <p:cNvSpPr>
            <a:spLocks noGrp="1"/>
          </p:cNvSpPr>
          <p:nvPr>
            <p:ph type="title"/>
          </p:nvPr>
        </p:nvSpPr>
        <p:spPr/>
        <p:txBody>
          <a:bodyPr/>
          <a:lstStyle/>
          <a:p>
            <a:r>
              <a:rPr lang="vi-VN">
                <a:latin typeface="Times New Roman"/>
                <a:cs typeface="Times New Roman"/>
              </a:rPr>
              <a:t>Studio Preview</a:t>
            </a:r>
            <a:endParaRPr lang="vi-VN"/>
          </a:p>
        </p:txBody>
      </p:sp>
      <p:sp>
        <p:nvSpPr>
          <p:cNvPr id="3" name="Chỗ dành sẵn cho Nội dung 2">
            <a:extLst>
              <a:ext uri="{FF2B5EF4-FFF2-40B4-BE49-F238E27FC236}">
                <a16:creationId xmlns:a16="http://schemas.microsoft.com/office/drawing/2014/main" id="{DA31F83C-C42E-20EF-6B4F-B280AF67314C}"/>
              </a:ext>
            </a:extLst>
          </p:cNvPr>
          <p:cNvSpPr>
            <a:spLocks noGrp="1"/>
          </p:cNvSpPr>
          <p:nvPr>
            <p:ph idx="1"/>
          </p:nvPr>
        </p:nvSpPr>
        <p:spPr/>
        <p:txBody>
          <a:bodyPr vert="horz" lIns="91440" tIns="45720" rIns="91440" bIns="45720" rtlCol="0" anchor="t">
            <a:normAutofit/>
          </a:bodyPr>
          <a:lstStyle/>
          <a:p>
            <a:pPr marL="0" indent="0">
              <a:buNone/>
            </a:pPr>
            <a:r>
              <a:rPr lang="vi-VN" b="1" dirty="0">
                <a:latin typeface="Arial"/>
                <a:cs typeface="Arial"/>
              </a:rPr>
              <a:t>Bài toán Studio Preview: </a:t>
            </a:r>
            <a:r>
              <a:rPr lang="vi-VN" dirty="0">
                <a:latin typeface="Arial"/>
                <a:cs typeface="Arial"/>
              </a:rPr>
              <a:t>Cần hiển thị nhiều hình ảnh chồng chéo lên nhau trong 1 vùng hiển thị mà vẫn có thể tương tác di </a:t>
            </a:r>
            <a:r>
              <a:rPr lang="vi-VN">
                <a:latin typeface="Arial"/>
                <a:cs typeface="Arial"/>
              </a:rPr>
              <a:t>chuyển (mượt mà, không bị lag giật, vỡ hình)</a:t>
            </a:r>
            <a:endParaRPr lang="vi-VN">
              <a:latin typeface="Arial" panose="020B0604020202020204" pitchFamily="34" charset="0"/>
              <a:cs typeface="Arial" panose="020B0604020202020204" pitchFamily="34" charset="0"/>
            </a:endParaRPr>
          </a:p>
          <a:p>
            <a:pPr marL="0" indent="0">
              <a:buNone/>
            </a:pPr>
            <a:r>
              <a:rPr lang="vi-VN">
                <a:latin typeface="Arial"/>
                <a:cs typeface="Arial"/>
              </a:rPr>
              <a:t>+ các tính năng hiển thị mới (video HDR)</a:t>
            </a:r>
            <a:endParaRPr lang="vi-VN">
              <a:latin typeface="Arial"/>
              <a:cs typeface="Arial" panose="020B0604020202020204" pitchFamily="34" charset="0"/>
            </a:endParaRPr>
          </a:p>
          <a:p>
            <a:pPr marL="0" indent="0">
              <a:buNone/>
            </a:pPr>
            <a:endParaRPr lang="vi-VN" dirty="0">
              <a:latin typeface="Arial"/>
              <a:cs typeface="Arial"/>
            </a:endParaRPr>
          </a:p>
          <a:p>
            <a:pPr marL="0" indent="0">
              <a:buNone/>
            </a:pPr>
            <a:r>
              <a:rPr lang="vi-VN" b="1">
                <a:latin typeface="Arial"/>
                <a:cs typeface="Arial"/>
              </a:rPr>
              <a:t>Đi tìm lời giải:</a:t>
            </a:r>
            <a:endParaRPr lang="vi-VN"/>
          </a:p>
          <a:p>
            <a:pPr marL="457200" indent="-457200"/>
            <a:r>
              <a:rPr lang="vi-VN">
                <a:latin typeface="Arial"/>
                <a:cs typeface="Arial"/>
              </a:rPr>
              <a:t>Liệu còn cách nào khác tốt hơn không?</a:t>
            </a:r>
            <a:endParaRPr lang="vi-VN" b="1" dirty="0">
              <a:latin typeface="Arial"/>
              <a:cs typeface="Arial"/>
            </a:endParaRPr>
          </a:p>
          <a:p>
            <a:endParaRPr lang="vi-VN" dirty="0">
              <a:latin typeface="Arial"/>
              <a:cs typeface="Arial"/>
            </a:endParaRPr>
          </a:p>
          <a:p>
            <a:pPr marL="0" indent="0">
              <a:buNone/>
            </a:pPr>
            <a:endParaRPr lang="vi-VN" dirty="0">
              <a:latin typeface="Arial"/>
              <a:cs typeface="Arial"/>
            </a:endParaRPr>
          </a:p>
          <a:p>
            <a:endParaRPr lang="vi-VN" i="1" u="sng" dirty="0">
              <a:latin typeface="Arial"/>
              <a:cs typeface="Arial"/>
            </a:endParaRPr>
          </a:p>
        </p:txBody>
      </p:sp>
    </p:spTree>
    <p:extLst>
      <p:ext uri="{BB962C8B-B14F-4D97-AF65-F5344CB8AC3E}">
        <p14:creationId xmlns:p14="http://schemas.microsoft.com/office/powerpoint/2010/main" val="1314880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E4A0D-B8D3-6E7B-2592-1C930DCE80D3}"/>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42F4F5E0-9A1A-7DAA-5224-8B87B67B50BA}"/>
              </a:ext>
            </a:extLst>
          </p:cNvPr>
          <p:cNvSpPr>
            <a:spLocks noGrp="1"/>
          </p:cNvSpPr>
          <p:nvPr>
            <p:ph type="title"/>
          </p:nvPr>
        </p:nvSpPr>
        <p:spPr/>
        <p:txBody>
          <a:bodyPr/>
          <a:lstStyle/>
          <a:p>
            <a:r>
              <a:rPr lang="vi-VN">
                <a:latin typeface="Times New Roman"/>
                <a:cs typeface="Times New Roman"/>
              </a:rPr>
              <a:t>Next steps</a:t>
            </a:r>
            <a:endParaRPr lang="vi-VN"/>
          </a:p>
        </p:txBody>
      </p:sp>
      <p:sp>
        <p:nvSpPr>
          <p:cNvPr id="3" name="Chỗ dành sẵn cho Nội dung 2">
            <a:extLst>
              <a:ext uri="{FF2B5EF4-FFF2-40B4-BE49-F238E27FC236}">
                <a16:creationId xmlns:a16="http://schemas.microsoft.com/office/drawing/2014/main" id="{5917AAB3-A62B-342D-3CF3-F6535D1D3C26}"/>
              </a:ext>
            </a:extLst>
          </p:cNvPr>
          <p:cNvSpPr>
            <a:spLocks noGrp="1"/>
          </p:cNvSpPr>
          <p:nvPr>
            <p:ph idx="1"/>
          </p:nvPr>
        </p:nvSpPr>
        <p:spPr/>
        <p:txBody>
          <a:bodyPr vert="horz" lIns="91440" tIns="45720" rIns="91440" bIns="45720" rtlCol="0" anchor="t">
            <a:normAutofit/>
          </a:bodyPr>
          <a:lstStyle/>
          <a:p>
            <a:r>
              <a:rPr lang="vi-VN">
                <a:latin typeface="Arial"/>
                <a:cs typeface="Arial"/>
              </a:rPr>
              <a:t>Làm PoC về CanvasSwapChain</a:t>
            </a:r>
            <a:endParaRPr lang="en-US"/>
          </a:p>
          <a:p>
            <a:endParaRPr lang="vi-VN" dirty="0">
              <a:latin typeface="Arial"/>
              <a:cs typeface="Arial"/>
            </a:endParaRPr>
          </a:p>
        </p:txBody>
      </p:sp>
    </p:spTree>
    <p:extLst>
      <p:ext uri="{BB962C8B-B14F-4D97-AF65-F5344CB8AC3E}">
        <p14:creationId xmlns:p14="http://schemas.microsoft.com/office/powerpoint/2010/main" val="201875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11DA2-DE07-9615-7F9F-DE88BD4F5F9C}"/>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E3DC83C5-7405-5B59-825F-F1A13DCA78D6}"/>
              </a:ext>
            </a:extLst>
          </p:cNvPr>
          <p:cNvSpPr>
            <a:spLocks noGrp="1"/>
          </p:cNvSpPr>
          <p:nvPr>
            <p:ph type="title"/>
          </p:nvPr>
        </p:nvSpPr>
        <p:spPr/>
        <p:txBody>
          <a:bodyPr/>
          <a:lstStyle/>
          <a:p>
            <a:r>
              <a:rPr lang="vi-VN">
                <a:latin typeface="Times New Roman"/>
                <a:cs typeface="Times New Roman"/>
              </a:rPr>
              <a:t>References</a:t>
            </a:r>
            <a:endParaRPr lang="vi-VN" dirty="0">
              <a:latin typeface="Times New Roman"/>
              <a:cs typeface="Times New Roman"/>
            </a:endParaRPr>
          </a:p>
        </p:txBody>
      </p:sp>
      <p:sp>
        <p:nvSpPr>
          <p:cNvPr id="3" name="Chỗ dành sẵn cho Nội dung 2">
            <a:extLst>
              <a:ext uri="{FF2B5EF4-FFF2-40B4-BE49-F238E27FC236}">
                <a16:creationId xmlns:a16="http://schemas.microsoft.com/office/drawing/2014/main" id="{0E7DCF12-D860-14C2-17F0-37BCAEE6A3A6}"/>
              </a:ext>
            </a:extLst>
          </p:cNvPr>
          <p:cNvSpPr>
            <a:spLocks noGrp="1"/>
          </p:cNvSpPr>
          <p:nvPr>
            <p:ph idx="1"/>
          </p:nvPr>
        </p:nvSpPr>
        <p:spPr/>
        <p:txBody>
          <a:bodyPr vert="horz" lIns="91440" tIns="45720" rIns="91440" bIns="45720" rtlCol="0" anchor="t">
            <a:normAutofit/>
          </a:bodyPr>
          <a:lstStyle/>
          <a:p>
            <a:r>
              <a:rPr lang="vi-VN" sz="2000" dirty="0">
                <a:latin typeface="Arial"/>
                <a:ea typeface="+mn-lt"/>
                <a:cs typeface="Arial"/>
                <a:hlinkClick r:id="rId2"/>
              </a:rPr>
              <a:t>https://learn.microsoft.com/en-us/windows/apps/develop/win2d</a:t>
            </a:r>
            <a:endParaRPr lang="vi-VN" sz="2000">
              <a:latin typeface="Arial"/>
              <a:ea typeface="+mn-lt"/>
              <a:cs typeface="Arial"/>
            </a:endParaRPr>
          </a:p>
          <a:p>
            <a:r>
              <a:rPr lang="vi-VN" sz="2000" dirty="0">
                <a:latin typeface="Arial"/>
                <a:ea typeface="+mn-lt"/>
                <a:cs typeface="Arial"/>
                <a:hlinkClick r:id="rId3"/>
              </a:rPr>
              <a:t>https://support.microsoft.com/en-us/windows/what-is-hdr-in-windows-f5fbf5cb-149d-4a0d-8be1-9ed78c68d3b4</a:t>
            </a:r>
            <a:endParaRPr lang="vi-VN" sz="2000">
              <a:latin typeface="Arial"/>
              <a:ea typeface="+mn-lt"/>
              <a:cs typeface="Arial"/>
            </a:endParaRPr>
          </a:p>
          <a:p>
            <a:r>
              <a:rPr lang="vi-VN" sz="2000" dirty="0">
                <a:latin typeface="Arial"/>
                <a:ea typeface="+mn-lt"/>
                <a:cs typeface="Arial"/>
                <a:hlinkClick r:id="rId4"/>
              </a:rPr>
              <a:t>https://viblo.asia/p/gpu-ve-len-man-hinh-nhu-the-nao-GAWVpOmZL05</a:t>
            </a:r>
            <a:endParaRPr lang="vi-VN" sz="2000">
              <a:latin typeface="Arial"/>
              <a:ea typeface="+mn-lt"/>
              <a:cs typeface="Arial"/>
            </a:endParaRPr>
          </a:p>
          <a:p>
            <a:r>
              <a:rPr lang="vi-VN" sz="2000" dirty="0">
                <a:latin typeface="Arial"/>
                <a:ea typeface="+mn-lt"/>
                <a:cs typeface="Arial"/>
                <a:hlinkClick r:id="rId5"/>
              </a:rPr>
              <a:t>https://microsoft.github.io/Win2D/WinUI3/html/T_Microsoft_Graphics_Canvas_UI_Xaml_CanvasSwapChainPanel.htm</a:t>
            </a:r>
          </a:p>
          <a:p>
            <a:endParaRPr lang="vi-VN" dirty="0">
              <a:latin typeface="Arial"/>
              <a:cs typeface="Arial"/>
            </a:endParaRPr>
          </a:p>
          <a:p>
            <a:pPr marL="0" indent="0">
              <a:buNone/>
            </a:pPr>
            <a:endParaRPr lang="vi-VN" dirty="0">
              <a:latin typeface="Arial"/>
              <a:cs typeface="Arial"/>
            </a:endParaRPr>
          </a:p>
        </p:txBody>
      </p:sp>
    </p:spTree>
    <p:extLst>
      <p:ext uri="{BB962C8B-B14F-4D97-AF65-F5344CB8AC3E}">
        <p14:creationId xmlns:p14="http://schemas.microsoft.com/office/powerpoint/2010/main" val="30085400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Màn hình rộng</PresentationFormat>
  <Paragraphs>0</Paragraphs>
  <Slides>12</Slides>
  <Notes>10</Notes>
  <HiddenSlides>1</HiddenSlides>
  <MMClips>0</MMClips>
  <ScaleCrop>false</ScaleCrop>
  <HeadingPairs>
    <vt:vector size="4" baseType="variant">
      <vt:variant>
        <vt:lpstr>Chủ đề</vt:lpstr>
      </vt:variant>
      <vt:variant>
        <vt:i4>1</vt:i4>
      </vt:variant>
      <vt:variant>
        <vt:lpstr>Tiêu đề Bản chiếu</vt:lpstr>
      </vt:variant>
      <vt:variant>
        <vt:i4>12</vt:i4>
      </vt:variant>
    </vt:vector>
  </HeadingPairs>
  <TitlesOfParts>
    <vt:vector size="13" baseType="lpstr">
      <vt:lpstr>office theme</vt:lpstr>
      <vt:lpstr>Studio  Preview</vt:lpstr>
      <vt:lpstr>Background</vt:lpstr>
      <vt:lpstr>Outline</vt:lpstr>
      <vt:lpstr>Image Render Flow</vt:lpstr>
      <vt:lpstr>Studio Preview</vt:lpstr>
      <vt:lpstr>Studio Preview</vt:lpstr>
      <vt:lpstr>Render Normal Controls flow</vt:lpstr>
      <vt:lpstr>Render CanvasControl flow</vt:lpstr>
      <vt:lpstr>Sample code 1: CanvasControl simple sample</vt:lpstr>
      <vt:lpstr>Studio Preview</vt:lpstr>
      <vt:lpstr>Next steps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1858</cp:revision>
  <dcterms:created xsi:type="dcterms:W3CDTF">2026-05-21T03:15:38Z</dcterms:created>
  <dcterms:modified xsi:type="dcterms:W3CDTF">2026-06-03T04:05:48Z</dcterms:modified>
</cp:coreProperties>
</file>